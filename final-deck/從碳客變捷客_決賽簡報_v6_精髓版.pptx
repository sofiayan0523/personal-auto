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（30 秒）評審好，我們是「想領獎金的捷客」。我們的提案一句話：把捷運點，變成健康生活圈的入口。接下來 7 分鐘，我會講三件事：市民為什麼無感、我們怎麼讓他有感、以及北捷為什麼划算。右邊這個原型現在就在線上，掃 QR 就能玩。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（40 秒）台北捷運每天有 207 萬人次在搭，但 Go App 大多只在查路線的時候被打開。這帶出三個連鎖問題：第一，App 打開沒事做，查完就關；第二，點數賺了不知道去哪花，很多就放到過期；第三，減碳只是口號——沒有人告訴市民「你今天這趟省了多少碳」。這三個問題其實是同一個：App 沒有走進日常生活。我們的答案，從出站的那一刻開始。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（40 秒）我們的解法一句話：出站那一刻，App 說一句剛好有用的話。整份提案就三句骨架。第一「站點即場景」：推薦回到此站、此時、此需求——下雨給傘、沒電給充電。第二「任務即誘因」：走一段路、借一把傘都是任務，完成就有捷運點，點數第一次有了明確的賺法和花法。第三「成效即產品」：多少人來、多少券被用掉，北捷看得到，還能把成效賣給合作店家。後面每一頁，都是這三句話的展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（40 秒）很多提案要蓋新東西，我們相反——這些服務全部已經在站裡了。左邊是市府已經在推的健康政策：U-Sport 運動集點、U-Walk 萬步走、YouBike 接駁補助，直接對接，不用新建。右邊是站裡已經在營業的店家：共享傘、行動電源、蛋糕機、電話亭，它們本來就付租金、本來就需要人流。我們做的，是把「租位子」升級成「帶客人」。一句話：不新建任何東西，只是把它們串在市民回家的那條路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（40 秒）讓我用一個下班的傍晚說明。17:52 出站，下雨了，App 說：4 號出口有共享傘。18:05，App 說：離萬步還差兩千步，走 8 分鐘到運動中心，這個月加成就解鎖。18:40 回家前：騎 YouBike 接駁可以再加成，站內蛋糕機捷運點可折抵。重點是右邊——每句話背後用的只有：這一站、這個時間、這個天氣、加上使用者自己勾選的偏好。不追蹤行蹤、不看消費紀錄。提醒有用，是因為時機剛好。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（40 秒）光有用還不夠，要讓人每天想打開。我們的答案是一座森林。你省下的碳會養大一座森林——減碳量不再是數字，是眼前長出來的樹。做健康任務會孵出小夥伴：騎 YouBike 孵出輪輪、走萬步孵出步步，各站還有限定裝扮可以收集，靈感來自皮克敏。每週日回來收成種子、培育神木，一週一個小儀式。一句話：點數給人「該用」的理由，森林給人「想回來」的理由。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（35 秒）這些不是概念圖。掃這個 QR，手機上現在就能玩，免安裝。3 分鐘走完全部：開場故事、出站結算、任務孵蛋、森林收成、花點換券。最後一步是評審高光：切到北捷營運後台，剛才在乘客端做的每個動作，即時出現在後台的事件流——這就是「成效即產品」的實際畫面。我們也準備了離線版，現場網路斷了照樣能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（40 秒）北捷為什麼要做？因為三方各拿到自己要的。市民：提醒有用、點數有地方花、減碳第一次被看見。北捷：App 變成天天打開的生活入口，招商多了「帶客人」這個新賣點。店家與場館：客人剛好走到門口，行銷費看得到成效。也因為成效看得到，北捷多了四種可以賣的方案：店家推播包、租賃導客包、健康共創包，以及第二階段的悠遊付擴充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（40 秒）錢算得過來。首年試算：合作方付 2,270 萬，點數回饋加維運 1,525 萬，剩 745 萬營運餘額。三個讓財務放心的設計：第一，點數的錢主要不是北捷出，是受惠店家共同出資，北捷補貼一年上限 600 萬；第二，每月五萬的合作包賣出 8 個就損益兩平，門檻很務實；第三，任務有名額、券有張數，成本第一天就可控。點數會計依國際準則規劃，細節在附錄，歡迎備詢。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（30 秒）最後是信任。打個比方：就像雲端發票，每一筆減碳與兌換都有存證。對市民，減碳紀錄變成自己的資產，換手機不會丟；對北捷，點數不會重複發、減碳量不會灌水，外部稽核隨時查得動——這是全場唯一做到可查證的方案，由 Numbers Protocol 提供技術支持。隱私三原則：自己同意才開啟、只留統計不留個資、隨時可關閉。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（35 秒）落地三步走，每一步北捷都可以喊停：第一步就是今天的原型；第二步試辦半年，選兩三個站實測導客；第三步接悠遊付擴大。團隊三人：Numbers Protocol 的可信資料、LINE Pay 的點數經濟實戰、市府的政策對接——正好對應這個提案的三個支柱。結尾一句話：從碳客變捷客，讓 207 萬人的每一趟通勤，都被看見、被回饋、被信任。謝謝評審。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附錄頁，不在 7 分鐘內。財務或會計評審提問時使用。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附錄頁。評審想深入單一場景的資料邊界與成效指標時使用。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附錄頁。評審深究點數成本控制與資料治理邊界時使用。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12648" y="612648"/>
            <a:ext cx="6766560" cy="5852160"/>
          </a:xfrm>
          <a:prstGeom prst="roundRect">
            <a:avLst>
              <a:gd name="adj" fmla="val 6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502920"/>
            <a:ext cx="6766560" cy="5852160"/>
          </a:xfrm>
          <a:prstGeom prst="roundRect">
            <a:avLst>
              <a:gd name="adj" fmla="val 6000"/>
            </a:avLst>
          </a:prstGeom>
          <a:solidFill>
            <a:srgbClr val="0B7A75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91440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C8F3DF"/>
                </a:solidFill>
                <a:latin typeface="微軟正黑體"/>
                <a:ea typeface="微軟正黑體"/>
              </a:rPr>
              <a:t>2026 捷運盃黑客松 · 決賽提案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371600"/>
            <a:ext cx="6035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0" b="1">
                <a:solidFill>
                  <a:srgbClr val="FFFFFF"/>
                </a:solidFill>
                <a:latin typeface="微軟正黑體"/>
                <a:ea typeface="微軟正黑體"/>
              </a:rPr>
              <a:t>從碳客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600" b="1">
                <a:solidFill>
                  <a:srgbClr val="FFD34D"/>
                </a:solidFill>
                <a:latin typeface="微軟正黑體"/>
                <a:ea typeface="微軟正黑體"/>
              </a:rPr>
              <a:t>變捷客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8992" y="4187952"/>
            <a:ext cx="5577840" cy="749808"/>
          </a:xfrm>
          <a:prstGeom prst="roundRect">
            <a:avLst>
              <a:gd name="adj" fmla="val 3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 rot="21510000">
            <a:off x="1005840" y="4114800"/>
            <a:ext cx="5577840" cy="749808"/>
          </a:xfrm>
          <a:prstGeom prst="roundRect">
            <a:avLst>
              <a:gd name="adj" fmla="val 30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17231C"/>
                </a:solidFill>
                <a:latin typeface="微軟正黑體"/>
                <a:ea typeface="微軟正黑體"/>
              </a:rPr>
              <a:t>把捷運點，變成健康生活圈的入口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166360"/>
            <a:ext cx="5669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軟正黑體"/>
                <a:ea typeface="微軟正黑體"/>
              </a:rPr>
              <a:t>團隊：想領獎金的捷客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C8F3DF"/>
                </a:solidFill>
                <a:latin typeface="微軟正黑體"/>
                <a:ea typeface="微軟正黑體"/>
              </a:rPr>
              <a:t>每一次通勤，都是可驗證的減碳資產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44967" y="1161288"/>
            <a:ext cx="4023360" cy="3200400"/>
          </a:xfrm>
          <a:prstGeom prst="roundRect">
            <a:avLst>
              <a:gd name="adj" fmla="val 8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35240" y="1051560"/>
            <a:ext cx="4023360" cy="3200400"/>
          </a:xfrm>
          <a:prstGeom prst="roundRect">
            <a:avLst>
              <a:gd name="adj" fmla="val 8000"/>
            </a:avLst>
          </a:prstGeom>
          <a:solidFill>
            <a:srgbClr val="FFFDF2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asc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280160"/>
            <a:ext cx="3657600" cy="244792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909560" y="4023359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 rot="21480000">
            <a:off x="7863840" y="3977639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決賽 10 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4023359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 rot="90000">
            <a:off x="9555480" y="3977639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7231C"/>
                </a:solidFill>
                <a:latin typeface="微軟正黑體"/>
                <a:ea typeface="微軟正黑體"/>
              </a:rPr>
              <a:t>互動原型可玩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48920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>
                <a:solidFill>
                  <a:srgbClr val="6E776F"/>
                </a:solidFill>
                <a:latin typeface="微軟正黑體"/>
                <a:ea typeface="微軟正黑體"/>
              </a:rPr>
              <a:t>線上互動原型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0B7A75"/>
                </a:solidFill>
                <a:latin typeface="Consolas"/>
                <a:ea typeface="Consolas"/>
              </a:rPr>
              <a:t>from-carbon-metro-vote.pages.dev/demo/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E776F"/>
                </a:solidFill>
                <a:latin typeface="微軟正黑體"/>
                <a:ea typeface="微軟正黑體"/>
              </a:rPr>
              <a:t>從碳客變捷客 · 2026 捷運盃黑客松決賽簡報 · 想領獎金的捷客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6E776F"/>
                </a:solidFill>
                <a:latin typeface="Arial"/>
                <a:ea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48056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17231C"/>
                </a:solidFill>
                <a:latin typeface="Arial Black"/>
                <a:ea typeface="Arial Black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17231C"/>
                </a:solidFill>
                <a:latin typeface="微軟正黑體"/>
                <a:ea typeface="微軟正黑體"/>
              </a:rPr>
              <a:t>每天 207 萬人搭捷運，但 Go App 只在查路線時被想起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083C37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微軟正黑體"/>
                <a:ea typeface="微軟正黑體"/>
              </a:rPr>
              <a:t>臺北捷運平均日運量 207.4 萬人次（114 年公開營運統計）— 每一趟，其實都是一筆沒被看見的減碳貢獻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2734056"/>
            <a:ext cx="3520440" cy="228600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651760"/>
            <a:ext cx="3520440" cy="228600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926079"/>
            <a:ext cx="1920240" cy="50292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880360"/>
            <a:ext cx="1920240" cy="502920"/>
          </a:xfrm>
          <a:prstGeom prst="roundRect">
            <a:avLst>
              <a:gd name="adj" fmla="val 50000"/>
            </a:avLst>
          </a:prstGeom>
          <a:solidFill>
            <a:srgbClr val="FFD34D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7231C"/>
                </a:solidFill>
                <a:latin typeface="微軟正黑體"/>
                <a:ea typeface="微軟正黑體"/>
              </a:rPr>
              <a:t>打開沒事做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17231C"/>
                </a:solidFill>
                <a:latin typeface="微軟正黑體"/>
                <a:ea typeface="微軟正黑體"/>
              </a:rPr>
              <a:t>現在的 Go App 偏「查資訊」：查完時刻表、看完路線，就關掉了。日常通勤沒有理由再打開它。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7" y="2734056"/>
            <a:ext cx="3520440" cy="228600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25112" y="2651760"/>
            <a:ext cx="3520440" cy="228600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99431" y="2926079"/>
            <a:ext cx="1920240" cy="50292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53712" y="2880360"/>
            <a:ext cx="1920240" cy="50292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7231C"/>
                </a:solidFill>
                <a:latin typeface="微軟正黑體"/>
                <a:ea typeface="微軟正黑體"/>
              </a:rPr>
              <a:t>點數放到過期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356616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17231C"/>
                </a:solidFill>
                <a:latin typeface="微軟正黑體"/>
                <a:ea typeface="微軟正黑體"/>
              </a:rPr>
              <a:t>搭車有累點，但賺了不知道去哪花、花了也沒感覺。很多捷運點就這樣安靜地過期。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734056"/>
            <a:ext cx="3520440" cy="228600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47304" y="2651760"/>
            <a:ext cx="3520440" cy="228600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21624" y="2926079"/>
            <a:ext cx="1920240" cy="50292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75904" y="2880360"/>
            <a:ext cx="1920240" cy="502920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7231C"/>
                </a:solidFill>
                <a:latin typeface="微軟正黑體"/>
                <a:ea typeface="微軟正黑體"/>
              </a:rPr>
              <a:t>減碳只是口號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4" y="356616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17231C"/>
                </a:solidFill>
                <a:latin typeface="微軟正黑體"/>
                <a:ea typeface="微軟正黑體"/>
              </a:rPr>
              <a:t>大家都知道搭捷運環保，但「我今天這趟省了多少碳」從來沒人告訴你。沒被看見，就不會變成習慣。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" y="5340096"/>
            <a:ext cx="11155680" cy="91440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5257800"/>
            <a:ext cx="11155680" cy="914400"/>
          </a:xfrm>
          <a:prstGeom prst="roundRect">
            <a:avLst>
              <a:gd name="adj" fmla="val 12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50" b="1">
                <a:solidFill>
                  <a:srgbClr val="17231C"/>
                </a:solidFill>
                <a:latin typeface="微軟正黑體"/>
                <a:ea typeface="微軟正黑體"/>
              </a:rPr>
              <a:t>三個問題其實是同一個問題：App 沒有走進市民的日常生活。我們的答案，就從「出站的那一刻」開始。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E776F"/>
                </a:solidFill>
                <a:latin typeface="微軟正黑體"/>
                <a:ea typeface="微軟正黑體"/>
              </a:rPr>
              <a:t>從碳客變捷客 · 2026 捷運盃黑客松決賽簡報 · 想領獎金的捷客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6E776F"/>
                </a:solidFill>
                <a:latin typeface="Arial"/>
                <a:ea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48056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17231C"/>
                </a:solidFill>
                <a:latin typeface="Arial Black"/>
                <a:ea typeface="Arial Black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17231C"/>
                </a:solidFill>
                <a:latin typeface="微軟正黑體"/>
                <a:ea typeface="微軟正黑體"/>
              </a:rPr>
              <a:t>我們的解法：出站那一刻，App 說一句剛好有用的話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1155680" cy="91440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1155680" cy="914400"/>
          </a:xfrm>
          <a:prstGeom prst="roundRect">
            <a:avLst>
              <a:gd name="adj" fmla="val 12000"/>
            </a:avLst>
          </a:prstGeom>
          <a:solidFill>
            <a:srgbClr val="0B7A75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你搭捷運出站 → App 依「這一站、這個時間、這個天氣」給一個建議 → 照著做，拿捷運點 → 北捷看得到成效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2688336"/>
            <a:ext cx="3520440" cy="306324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606040"/>
            <a:ext cx="3520440" cy="306324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880360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834640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17231C"/>
                </a:solidFill>
                <a:latin typeface="微軟正黑體"/>
                <a:ea typeface="微軟正黑體"/>
              </a:rPr>
              <a:t>站點即場景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39" y="2926079"/>
            <a:ext cx="868680" cy="438912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17520" y="2880360"/>
            <a:ext cx="868680" cy="438912"/>
          </a:xfrm>
          <a:prstGeom prst="roundRect">
            <a:avLst>
              <a:gd name="adj" fmla="val 50000"/>
            </a:avLst>
          </a:prstGeom>
          <a:solidFill>
            <a:srgbClr val="083C37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軟正黑體"/>
                <a:ea typeface="微軟正黑體"/>
              </a:rPr>
              <a:t>市民視角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1188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300" b="0">
                <a:solidFill>
                  <a:srgbClr val="17231C"/>
                </a:solidFill>
                <a:latin typeface="微軟正黑體"/>
                <a:ea typeface="微軟正黑體"/>
              </a:rPr>
              <a:t>推薦不是亂槍打鳥，而是回到「此站、此時、此需求」：下雨就是傘、沒電就是充電、下班時段就是運動中心。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7" y="2688336"/>
            <a:ext cx="3520440" cy="306324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25112" y="2606040"/>
            <a:ext cx="3520440" cy="306324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99431" y="2880360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53712" y="2834640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FFD34D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17231C"/>
                </a:solidFill>
                <a:latin typeface="微軟正黑體"/>
                <a:ea typeface="微軟正黑體"/>
              </a:rPr>
              <a:t>任務即誘因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85431" y="2926079"/>
            <a:ext cx="868680" cy="438912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39712" y="2880360"/>
            <a:ext cx="868680" cy="438912"/>
          </a:xfrm>
          <a:prstGeom prst="roundRect">
            <a:avLst>
              <a:gd name="adj" fmla="val 50000"/>
            </a:avLst>
          </a:prstGeom>
          <a:solidFill>
            <a:srgbClr val="083C37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軟正黑體"/>
                <a:ea typeface="微軟正黑體"/>
              </a:rPr>
              <a:t>點數視角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361188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300" b="0">
                <a:solidFill>
                  <a:srgbClr val="17231C"/>
                </a:solidFill>
                <a:latin typeface="微軟正黑體"/>
                <a:ea typeface="微軟正黑體"/>
              </a:rPr>
              <a:t>走一段路、騎一段 YouBike、借一把傘，都是任務。完成就有捷運點加成或換券——點數第一次有了明確的「賺法」和「花法」。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2688336"/>
            <a:ext cx="3520440" cy="306324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47304" y="2606040"/>
            <a:ext cx="3520440" cy="306324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21624" y="2880360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375904" y="2834640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17231C"/>
                </a:solidFill>
                <a:latin typeface="微軟正黑體"/>
                <a:ea typeface="微軟正黑體"/>
              </a:rPr>
              <a:t>成效即產品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707624" y="2926079"/>
            <a:ext cx="868680" cy="438912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661904" y="2880360"/>
            <a:ext cx="868680" cy="438912"/>
          </a:xfrm>
          <a:prstGeom prst="roundRect">
            <a:avLst>
              <a:gd name="adj" fmla="val 50000"/>
            </a:avLst>
          </a:prstGeom>
          <a:solidFill>
            <a:srgbClr val="083C37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軟正黑體"/>
                <a:ea typeface="微軟正黑體"/>
              </a:rPr>
              <a:t>北捷視角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75904" y="361188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300" b="0">
                <a:solidFill>
                  <a:srgbClr val="17231C"/>
                </a:solidFill>
                <a:latin typeface="微軟正黑體"/>
                <a:ea typeface="微軟正黑體"/>
              </a:rPr>
              <a:t>多少人看到、多少人走過去、多少張券被用掉——北捷全部看得到，還能把這些成效包裝成方案，賣給站內店家與合作場館。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961888"/>
            <a:ext cx="11155680" cy="59436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2920" y="5897880"/>
            <a:ext cx="11155680" cy="59436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50" b="1">
                <a:solidFill>
                  <a:srgbClr val="17231C"/>
                </a:solidFill>
                <a:latin typeface="微軟正黑體"/>
                <a:ea typeface="微軟正黑體"/>
              </a:rPr>
              <a:t>這三句話，就是整份提案的骨架。後面每一頁，都是這三句話的展開。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E776F"/>
                </a:solidFill>
                <a:latin typeface="微軟正黑體"/>
                <a:ea typeface="微軟正黑體"/>
              </a:rPr>
              <a:t>從碳客變捷客 · 2026 捷運盃黑客松決賽簡報 · 想領獎金的捷客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6E776F"/>
                </a:solidFill>
                <a:latin typeface="Arial"/>
                <a:ea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48056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17231C"/>
                </a:solidFill>
                <a:latin typeface="Arial Black"/>
                <a:ea typeface="Arial Black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17231C"/>
                </a:solidFill>
                <a:latin typeface="微軟正黑體"/>
                <a:ea typeface="微軟正黑體"/>
              </a:rPr>
              <a:t>這些服務，其實都已經在捷運站裡了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50292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29800" y="45720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17231C"/>
                </a:solidFill>
                <a:latin typeface="微軟正黑體"/>
                <a:ea typeface="微軟正黑體"/>
              </a:rPr>
              <a:t>零新建成本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63040"/>
            <a:ext cx="5486400" cy="411480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5486400" cy="4114800"/>
          </a:xfrm>
          <a:prstGeom prst="roundRect">
            <a:avLst>
              <a:gd name="adj" fmla="val 12000"/>
            </a:avLst>
          </a:prstGeom>
          <a:solidFill>
            <a:srgbClr val="0B7A75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800" b="1">
                <a:solidFill>
                  <a:srgbClr val="FFD34D"/>
                </a:solidFill>
                <a:latin typeface="微軟正黑體"/>
                <a:ea typeface="微軟正黑體"/>
              </a:rPr>
              <a:t>市府已經在推的健康政策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FFFFF"/>
                </a:solidFill>
                <a:latin typeface="微軟正黑體"/>
                <a:ea typeface="微軟正黑體"/>
              </a:rPr>
              <a:t>不用新談、不用新建，直接對接：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C8F3DF"/>
                </a:solidFill>
                <a:latin typeface="微軟正黑體"/>
                <a:ea typeface="微軟正黑體"/>
              </a:rPr>
              <a:t>· U-Sport：進運動中心運動就集點（體育局）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C8F3DF"/>
                </a:solidFill>
                <a:latin typeface="微軟正黑體"/>
                <a:ea typeface="微軟正黑體"/>
              </a:rPr>
              <a:t>· U-Walk：健康萬步走（衛生局）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0">
                <a:solidFill>
                  <a:srgbClr val="C8F3DF"/>
                </a:solidFill>
                <a:latin typeface="微軟正黑體"/>
                <a:ea typeface="微軟正黑體"/>
              </a:rPr>
              <a:t>· YouBike：前 30 分鐘補助的綠色接駁（交通局）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軟正黑體"/>
                <a:ea typeface="微軟正黑體"/>
              </a:rPr>
              <a:t>捷運點的加成，就綁在「搭捷運去運動、走路、騎車」上——這比單純折扣，更像一座城市在鼓勵你健康生活。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79" y="1463040"/>
            <a:ext cx="5394960" cy="411480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1371600"/>
            <a:ext cx="5394960" cy="411480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60020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800" b="1">
                <a:solidFill>
                  <a:srgbClr val="0B7A75"/>
                </a:solidFill>
                <a:latin typeface="微軟正黑體"/>
                <a:ea typeface="微軟正黑體"/>
              </a:rPr>
              <a:t>站裡已經在營業的店家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17231C"/>
                </a:solidFill>
                <a:latin typeface="微軟正黑體"/>
                <a:ea typeface="微軟正黑體"/>
              </a:rPr>
              <a:t>它們本來就付租金、也本來就需要人流：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6E776F"/>
                </a:solidFill>
                <a:latin typeface="微軟正黑體"/>
                <a:ea typeface="微軟正黑體"/>
              </a:rPr>
              <a:t>· 下雨 → rainGo 共享傘（甲站借、乙站還）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6E776F"/>
                </a:solidFill>
                <a:latin typeface="微軟正黑體"/>
                <a:ea typeface="微軟正黑體"/>
              </a:rPr>
              <a:t>· 沒電 → 旅電 / ChargeSPOT 行動電源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6E776F"/>
                </a:solidFill>
                <a:latin typeface="微軟正黑體"/>
                <a:ea typeface="微軟正黑體"/>
              </a:rPr>
              <a:t>· 嘴饞 → 亞尼克 YTM 蛋糕機、全家、黑潮咖啡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0">
                <a:solidFill>
                  <a:srgbClr val="6E776F"/>
                </a:solidFill>
                <a:latin typeface="微軟正黑體"/>
                <a:ea typeface="微軟正黑體"/>
              </a:rPr>
              <a:t>· 空檔 → 小樹屋電話亭、快剪、快閃櫃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17231C"/>
                </a:solidFill>
                <a:latin typeface="微軟正黑體"/>
                <a:ea typeface="微軟正黑體"/>
              </a:rPr>
              <a:t>我們幫北捷做的，是把「租位子給它們」升級成「帶客人給它們」——這就是招商的新賣點。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" y="5788152"/>
            <a:ext cx="11155680" cy="68580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5715000"/>
            <a:ext cx="11155680" cy="685800"/>
          </a:xfrm>
          <a:prstGeom prst="roundRect">
            <a:avLst>
              <a:gd name="adj" fmla="val 12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7231C"/>
                </a:solidFill>
                <a:latin typeface="微軟正黑體"/>
                <a:ea typeface="微軟正黑體"/>
              </a:rPr>
              <a:t>我們不新建任何東西——只是把已經存在的政策和店家，串在市民回家的那條路上。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E776F"/>
                </a:solidFill>
                <a:latin typeface="微軟正黑體"/>
                <a:ea typeface="微軟正黑體"/>
              </a:rPr>
              <a:t>從碳客變捷客 · 2026 捷運盃黑客松決賽簡報 · 想領獎金的捷客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6E776F"/>
                </a:solidFill>
                <a:latin typeface="Arial"/>
                <a:ea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48056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17231C"/>
                </a:solidFill>
                <a:latin typeface="Arial Black"/>
                <a:ea typeface="Arial Black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17231C"/>
                </a:solidFill>
                <a:latin typeface="微軟正黑體"/>
                <a:ea typeface="微軟正黑體"/>
              </a:rPr>
              <a:t>一個下班的傍晚，App 只說了三句話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" y="1490472"/>
            <a:ext cx="7406640" cy="123444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7406640" cy="123444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627632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81912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7231C"/>
                </a:solidFill>
                <a:latin typeface="微軟正黑體"/>
                <a:ea typeface="微軟正黑體"/>
              </a:rPr>
              <a:t>17:52 · 出站，下雨了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0">
                <a:solidFill>
                  <a:srgbClr val="17231C"/>
                </a:solidFill>
                <a:latin typeface="微軟正黑體"/>
                <a:ea typeface="微軟正黑體"/>
              </a:rPr>
              <a:t>「4 號出口就有 rainGo 共享傘，甲站借、乙站還。順手完成今天的共享任務。」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691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600" b="0">
                <a:solidFill>
                  <a:srgbClr val="17231C"/>
                </a:solidFill>
                <a:latin typeface="微軟正黑體"/>
                <a:ea typeface="微軟正黑體"/>
              </a:rPr>
              <a:t>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" y="2907792"/>
            <a:ext cx="7406640" cy="123444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2834640"/>
            <a:ext cx="7406640" cy="123444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3044952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2999232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FFD34D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7231C"/>
                </a:solidFill>
                <a:latin typeface="微軟正黑體"/>
                <a:ea typeface="微軟正黑體"/>
              </a:rPr>
              <a:t>18:05 · 走在路上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2044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0">
                <a:solidFill>
                  <a:srgbClr val="17231C"/>
                </a:solidFill>
                <a:latin typeface="微軟正黑體"/>
                <a:ea typeface="微軟正黑體"/>
              </a:rPr>
              <a:t>「今天離萬步還差 2,000 步——走 8 分鐘到運動中心，這個月的減碳加成就解鎖了。」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31089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600" b="0">
                <a:solidFill>
                  <a:srgbClr val="17231C"/>
                </a:solidFill>
                <a:latin typeface="微軟正黑體"/>
                <a:ea typeface="微軟正黑體"/>
              </a:rPr>
              <a:t>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" y="4325112"/>
            <a:ext cx="7406640" cy="123444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4251960"/>
            <a:ext cx="7406640" cy="123444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4462272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4416552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7231C"/>
                </a:solidFill>
                <a:latin typeface="微軟正黑體"/>
                <a:ea typeface="微軟正黑體"/>
              </a:rPr>
              <a:t>18:40 · 準備回家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9377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0">
                <a:solidFill>
                  <a:srgbClr val="17231C"/>
                </a:solidFill>
                <a:latin typeface="微軟正黑體"/>
                <a:ea typeface="微軟正黑體"/>
              </a:rPr>
              <a:t>「騎 YouBike 接駁 10 分鐘可再加成；回程站內的亞尼克蛋糕機，捷運點可以折抵。」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45262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600" b="0">
                <a:solidFill>
                  <a:srgbClr val="17231C"/>
                </a:solidFill>
                <a:latin typeface="微軟正黑體"/>
                <a:ea typeface="微軟正黑體"/>
              </a:rPr>
              <a:t>🚲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1508760"/>
            <a:ext cx="3474720" cy="41605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0" y="1417320"/>
            <a:ext cx="3474720" cy="4160520"/>
          </a:xfrm>
          <a:prstGeom prst="roundRect">
            <a:avLst>
              <a:gd name="adj" fmla="val 12000"/>
            </a:avLst>
          </a:prstGeom>
          <a:solidFill>
            <a:srgbClr val="083C37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1645920"/>
            <a:ext cx="29260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00" b="1">
                <a:solidFill>
                  <a:srgbClr val="FFD34D"/>
                </a:solidFill>
                <a:latin typeface="微軟正黑體"/>
                <a:ea typeface="微軟正黑體"/>
              </a:rPr>
              <a:t>每一句話背後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用的都只是：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C8F3DF"/>
                </a:solidFill>
                <a:latin typeface="微軟正黑體"/>
                <a:ea typeface="微軟正黑體"/>
              </a:rPr>
              <a:t>· 這一站（出站紀錄）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C8F3DF"/>
                </a:solidFill>
                <a:latin typeface="微軟正黑體"/>
                <a:ea typeface="微軟正黑體"/>
              </a:rPr>
              <a:t>· 這個時間（下班時段）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C8F3DF"/>
                </a:solidFill>
                <a:latin typeface="微軟正黑體"/>
                <a:ea typeface="微軟正黑體"/>
              </a:rPr>
              <a:t>· 這個天氣（正在下雨）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00" b="0">
                <a:solidFill>
                  <a:srgbClr val="C8F3DF"/>
                </a:solidFill>
                <a:latin typeface="微軟正黑體"/>
                <a:ea typeface="微軟正黑體"/>
              </a:rPr>
              <a:t>· 你自己勾選的偏好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微軟正黑體"/>
                <a:ea typeface="微軟正黑體"/>
              </a:rPr>
              <a:t>不追蹤行蹤、不看消費紀錄。提醒有用，是因為時機剛好。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870448"/>
            <a:ext cx="11155680" cy="59436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5806440"/>
            <a:ext cx="11155680" cy="594360"/>
          </a:xfrm>
          <a:prstGeom prst="roundRect">
            <a:avLst>
              <a:gd name="adj" fmla="val 12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50" b="1">
                <a:solidFill>
                  <a:srgbClr val="17231C"/>
                </a:solidFill>
                <a:latin typeface="微軟正黑體"/>
                <a:ea typeface="微軟正黑體"/>
              </a:rPr>
              <a:t>雨天借傘、轉乘空檔訂電話亭、週末親子行程——同一套邏輯，可以長出幾十種站點情境。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E776F"/>
                </a:solidFill>
                <a:latin typeface="微軟正黑體"/>
                <a:ea typeface="微軟正黑體"/>
              </a:rPr>
              <a:t>從碳客變捷客 · 2026 捷運盃黑客松決賽簡報 · 想領獎金的捷客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6E776F"/>
                </a:solidFill>
                <a:latin typeface="Arial"/>
                <a:ea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48056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17231C"/>
                </a:solidFill>
                <a:latin typeface="Arial Black"/>
                <a:ea typeface="Arial Black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17231C"/>
                </a:solidFill>
                <a:latin typeface="微軟正黑體"/>
                <a:ea typeface="微軟正黑體"/>
              </a:rPr>
              <a:t>為什麼會每天想打開？因為有一座森林在等你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50292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29800" y="45720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17231C"/>
                </a:solidFill>
                <a:latin typeface="微軟正黑體"/>
                <a:ea typeface="微軟正黑體"/>
              </a:rPr>
              <a:t>內容創新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2093975"/>
            <a:ext cx="2551176" cy="2560320"/>
          </a:xfrm>
          <a:prstGeom prst="roundRect">
            <a:avLst>
              <a:gd name="adj" fmla="val 7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011679"/>
            <a:ext cx="2551176" cy="2560320"/>
          </a:xfrm>
          <a:prstGeom prst="roundRect">
            <a:avLst>
              <a:gd name="adj" fmla="val 7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tory-modal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121408"/>
            <a:ext cx="2331720" cy="23449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3492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17231C"/>
                </a:solidFill>
                <a:latin typeface="微軟正黑體"/>
                <a:ea typeface="微軟正黑體"/>
              </a:rPr>
              <a:t>開場故事：你的碳森林需要幫忙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36976" y="1463039"/>
            <a:ext cx="1956815" cy="3822191"/>
          </a:xfrm>
          <a:prstGeom prst="roundRect">
            <a:avLst>
              <a:gd name="adj" fmla="val 7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54680" y="1380743"/>
            <a:ext cx="1956815" cy="3822191"/>
          </a:xfrm>
          <a:prstGeom prst="roundRect">
            <a:avLst>
              <a:gd name="adj" fmla="val 7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hone-hatch-mod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408" y="1490472"/>
            <a:ext cx="1737360" cy="36032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108960" y="534924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17231C"/>
                </a:solidFill>
                <a:latin typeface="微軟正黑體"/>
                <a:ea typeface="微軟正黑體"/>
              </a:rPr>
              <a:t>做健康任務 → 孵出夥伴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94376" y="1463039"/>
            <a:ext cx="1956815" cy="3822191"/>
          </a:xfrm>
          <a:prstGeom prst="roundRect">
            <a:avLst>
              <a:gd name="adj" fmla="val 7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212080" y="1380743"/>
            <a:ext cx="1956815" cy="3822191"/>
          </a:xfrm>
          <a:prstGeom prst="roundRect">
            <a:avLst>
              <a:gd name="adj" fmla="val 7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hone-for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808" y="1490472"/>
            <a:ext cx="1737360" cy="360324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66360" y="534924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17231C"/>
                </a:solidFill>
                <a:latin typeface="微軟正黑體"/>
                <a:ea typeface="微軟正黑體"/>
              </a:rPr>
              <a:t>夥伴住進森林，週日回來收成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1508760"/>
            <a:ext cx="4389120" cy="3977639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0" y="1417320"/>
            <a:ext cx="4389120" cy="3977639"/>
          </a:xfrm>
          <a:prstGeom prst="roundRect">
            <a:avLst>
              <a:gd name="adj" fmla="val 12000"/>
            </a:avLst>
          </a:prstGeom>
          <a:solidFill>
            <a:srgbClr val="0B7A75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5240" y="1627632"/>
            <a:ext cx="3794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50" b="1">
                <a:solidFill>
                  <a:srgbClr val="FFD34D"/>
                </a:solidFill>
                <a:latin typeface="微軟正黑體"/>
                <a:ea typeface="微軟正黑體"/>
              </a:rPr>
              <a:t>把減碳數字，變成養得大的東西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1">
                <a:solidFill>
                  <a:srgbClr val="C8F3DF"/>
                </a:solidFill>
                <a:latin typeface="微軟正黑體"/>
                <a:ea typeface="微軟正黑體"/>
              </a:rPr>
              <a:t>🌲 你省下的碳，會養大一座森林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0">
                <a:solidFill>
                  <a:srgbClr val="FFFFFF"/>
                </a:solidFill>
                <a:latin typeface="微軟正黑體"/>
                <a:ea typeface="微軟正黑體"/>
              </a:rPr>
              <a:t>每趟通勤的減碳量不再是數字，而是眼前長出來的樹。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1">
                <a:solidFill>
                  <a:srgbClr val="C8F3DF"/>
                </a:solidFill>
                <a:latin typeface="微軟正黑體"/>
                <a:ea typeface="微軟正黑體"/>
              </a:rPr>
              <a:t>🐣 做健康任務，會孵出小夥伴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0">
                <a:solidFill>
                  <a:srgbClr val="FFFFFF"/>
                </a:solidFill>
                <a:latin typeface="微軟正黑體"/>
                <a:ea typeface="微軟正黑體"/>
              </a:rPr>
              <a:t>騎 YouBike 孵出「輪輪」、走萬步孵出「步步」——還有各站限定的裝扮可以收集（靈感來自皮克敏）。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1">
                <a:solidFill>
                  <a:srgbClr val="C8F3DF"/>
                </a:solidFill>
                <a:latin typeface="微軟正黑體"/>
                <a:ea typeface="微軟正黑體"/>
              </a:rPr>
              <a:t>🌱 每週日，回來收成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軟正黑體"/>
                <a:ea typeface="微軟正黑體"/>
              </a:rPr>
              <a:t>收成種子、培育神木。一週一個小儀式，讓人固定回訪。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88352" y="5605272"/>
            <a:ext cx="4389120" cy="68580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0" y="5532120"/>
            <a:ext cx="4389120" cy="685800"/>
          </a:xfrm>
          <a:prstGeom prst="roundRect">
            <a:avLst>
              <a:gd name="adj" fmla="val 12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7231C"/>
                </a:solidFill>
                <a:latin typeface="微軟正黑體"/>
                <a:ea typeface="微軟正黑體"/>
              </a:rPr>
              <a:t>點數給人「該用」的理由，森林給人「想回來」的理由。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E776F"/>
                </a:solidFill>
                <a:latin typeface="微軟正黑體"/>
                <a:ea typeface="微軟正黑體"/>
              </a:rPr>
              <a:t>從碳客變捷客 · 2026 捷運盃黑客松決賽簡報 · 想領獎金的捷客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6E776F"/>
                </a:solidFill>
                <a:latin typeface="Arial"/>
                <a:ea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48056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17231C"/>
                </a:solidFill>
                <a:latin typeface="Arial Black"/>
                <a:ea typeface="Arial Black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17231C"/>
                </a:solidFill>
                <a:latin typeface="微軟正黑體"/>
                <a:ea typeface="微軟正黑體"/>
              </a:rPr>
              <a:t>這不是概念圖——現在手機掃了就能玩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1545336"/>
            <a:ext cx="1572768" cy="228600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1572768" cy="228600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09928"/>
            <a:ext cx="1353312" cy="45720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2648" y="1664208"/>
            <a:ext cx="1353312" cy="457200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17231C"/>
                </a:solidFill>
                <a:latin typeface="微軟正黑體"/>
                <a:ea typeface="微軟正黑體"/>
              </a:rPr>
              <a:t>① 開場故事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2286000"/>
            <a:ext cx="13533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>
                <a:solidFill>
                  <a:srgbClr val="17231C"/>
                </a:solidFill>
                <a:latin typeface="微軟正黑體"/>
                <a:ea typeface="微軟正黑體"/>
              </a:rPr>
              <a:t>3 頁世界觀＋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>
                <a:solidFill>
                  <a:srgbClr val="17231C"/>
                </a:solidFill>
                <a:latin typeface="微軟正黑體"/>
                <a:ea typeface="微軟正黑體"/>
              </a:rPr>
              <a:t>選常用路線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1545336"/>
            <a:ext cx="1572768" cy="228600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03704" y="1463040"/>
            <a:ext cx="1572768" cy="228600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359152" y="1709928"/>
            <a:ext cx="1353312" cy="45720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313432" y="1664208"/>
            <a:ext cx="1353312" cy="457200"/>
          </a:xfrm>
          <a:prstGeom prst="roundRect">
            <a:avLst>
              <a:gd name="adj" fmla="val 50000"/>
            </a:avLst>
          </a:prstGeom>
          <a:solidFill>
            <a:srgbClr val="FFD34D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17231C"/>
                </a:solidFill>
                <a:latin typeface="微軟正黑體"/>
                <a:ea typeface="微軟正黑體"/>
              </a:rPr>
              <a:t>② 出站結算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286000"/>
            <a:ext cx="13533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>
                <a:solidFill>
                  <a:srgbClr val="17231C"/>
                </a:solidFill>
                <a:latin typeface="微軟正黑體"/>
                <a:ea typeface="微軟正黑體"/>
              </a:rPr>
              <a:t>+15 點 / +0.23 kg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>
                <a:solidFill>
                  <a:srgbClr val="17231C"/>
                </a:solidFill>
                <a:latin typeface="微軟正黑體"/>
                <a:ea typeface="微軟正黑體"/>
              </a:rPr>
              <a:t>雙數字動畫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86784" y="1545336"/>
            <a:ext cx="1572768" cy="228600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904488" y="1463040"/>
            <a:ext cx="1572768" cy="228600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059936" y="1709928"/>
            <a:ext cx="1353312" cy="45720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014216" y="1664208"/>
            <a:ext cx="1353312" cy="45720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17231C"/>
                </a:solidFill>
                <a:latin typeface="微軟正黑體"/>
                <a:ea typeface="微軟正黑體"/>
              </a:rPr>
              <a:t>③ 任務孵蛋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32504" y="2286000"/>
            <a:ext cx="13533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>
                <a:solidFill>
                  <a:srgbClr val="17231C"/>
                </a:solidFill>
                <a:latin typeface="微軟正黑體"/>
                <a:ea typeface="微軟正黑體"/>
              </a:rPr>
              <a:t>健康任務充能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>
                <a:solidFill>
                  <a:srgbClr val="17231C"/>
                </a:solidFill>
                <a:latin typeface="微軟正黑體"/>
                <a:ea typeface="微軟正黑體"/>
              </a:rPr>
              <a:t>夥伴孵化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87568" y="1545336"/>
            <a:ext cx="1572768" cy="228600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05272" y="1463040"/>
            <a:ext cx="1572768" cy="228600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760720" y="1709928"/>
            <a:ext cx="1353312" cy="45720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715000" y="1664208"/>
            <a:ext cx="1353312" cy="457200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17231C"/>
                </a:solidFill>
                <a:latin typeface="微軟正黑體"/>
                <a:ea typeface="微軟正黑體"/>
              </a:rPr>
              <a:t>④ 森林收成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33288" y="2286000"/>
            <a:ext cx="13533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>
                <a:solidFill>
                  <a:srgbClr val="17231C"/>
                </a:solidFill>
                <a:latin typeface="微軟正黑體"/>
                <a:ea typeface="微軟正黑體"/>
              </a:rPr>
              <a:t>夥伴入住棲地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>
                <a:solidFill>
                  <a:srgbClr val="17231C"/>
                </a:solidFill>
                <a:latin typeface="微軟正黑體"/>
                <a:ea typeface="微軟正黑體"/>
              </a:rPr>
              <a:t>週日收成種子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88352" y="1545336"/>
            <a:ext cx="1572768" cy="228600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06056" y="1463040"/>
            <a:ext cx="1572768" cy="228600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61504" y="1709928"/>
            <a:ext cx="1353312" cy="45720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15783" y="1664208"/>
            <a:ext cx="1353312" cy="457200"/>
          </a:xfrm>
          <a:prstGeom prst="roundRect">
            <a:avLst>
              <a:gd name="adj" fmla="val 50000"/>
            </a:avLst>
          </a:prstGeom>
          <a:solidFill>
            <a:srgbClr val="FFD34D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17231C"/>
                </a:solidFill>
                <a:latin typeface="微軟正黑體"/>
                <a:ea typeface="微軟正黑體"/>
              </a:rPr>
              <a:t>⑤ 花點換券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34072" y="2286000"/>
            <a:ext cx="13533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>
                <a:solidFill>
                  <a:srgbClr val="17231C"/>
                </a:solidFill>
                <a:latin typeface="微軟正黑體"/>
                <a:ea typeface="微軟正黑體"/>
              </a:rPr>
              <a:t>100 點換全家券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>
                <a:solidFill>
                  <a:srgbClr val="17231C"/>
                </a:solidFill>
                <a:latin typeface="微軟正黑體"/>
                <a:ea typeface="微軟正黑體"/>
              </a:rPr>
              <a:t>出示條碼核銷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81160" y="1554480"/>
            <a:ext cx="2514600" cy="2286000"/>
          </a:xfrm>
          <a:prstGeom prst="roundRect">
            <a:avLst>
              <a:gd name="adj" fmla="val 8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189720" y="1463040"/>
            <a:ext cx="2514600" cy="2286000"/>
          </a:xfrm>
          <a:prstGeom prst="roundRect">
            <a:avLst>
              <a:gd name="adj" fmla="val 8000"/>
            </a:avLst>
          </a:prstGeom>
          <a:solidFill>
            <a:srgbClr val="FFFDF2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qr-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627632"/>
            <a:ext cx="1920240" cy="192024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189720" y="342900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17231C"/>
                </a:solidFill>
                <a:latin typeface="微軟正黑體"/>
                <a:ea typeface="微軟正黑體"/>
              </a:rPr>
              <a:t>掃了就能玩（免安裝）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4160520"/>
            <a:ext cx="11155680" cy="123444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02920" y="4069080"/>
            <a:ext cx="11155680" cy="1234440"/>
          </a:xfrm>
          <a:prstGeom prst="roundRect">
            <a:avLst>
              <a:gd name="adj" fmla="val 12000"/>
            </a:avLst>
          </a:prstGeom>
          <a:solidFill>
            <a:srgbClr val="083C37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4251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軟正黑體"/>
                <a:ea typeface="微軟正黑體"/>
              </a:rPr>
              <a:t>最後一步（評審高光）：切到「北捷營運後台」——剛才在乘客端做的每個動作，即時出現在後台事件流。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C8F3DF"/>
                </a:solidFill>
                <a:latin typeface="微軟正黑體"/>
                <a:ea typeface="微軟正黑體"/>
              </a:rPr>
              <a:t>乘客端玩到的每件事，北捷端都看得到成效——這就是「成效即產品」的實際畫面。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76072" y="5650992"/>
            <a:ext cx="11155680" cy="68580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02920" y="5577840"/>
            <a:ext cx="11155680" cy="68580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7231C"/>
                </a:solidFill>
                <a:latin typeface="微軟正黑體"/>
                <a:ea typeface="微軟正黑體"/>
              </a:rPr>
              <a:t>3 分鐘可以走完全部動線：故事 → 出站 → 孵蛋 → 森林 → 換券 → 營運後台。備有離線版，現場網路斷了也能演示。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E776F"/>
                </a:solidFill>
                <a:latin typeface="微軟正黑體"/>
                <a:ea typeface="微軟正黑體"/>
              </a:rPr>
              <a:t>從碳客變捷客 · 2026 捷運盃黑客松決賽簡報 · 想領獎金的捷客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6E776F"/>
                </a:solidFill>
                <a:latin typeface="Arial"/>
                <a:ea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48056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17231C"/>
                </a:solidFill>
                <a:latin typeface="Arial Black"/>
                <a:ea typeface="Arial Black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17231C"/>
                </a:solidFill>
                <a:latin typeface="微軟正黑體"/>
                <a:ea typeface="微軟正黑體"/>
              </a:rPr>
              <a:t>北捷為什麼要做？因為三方各拿到自己要的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1499616"/>
            <a:ext cx="3520440" cy="30175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3520440" cy="301752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691640"/>
            <a:ext cx="1463040" cy="54864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463040" cy="548640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17231C"/>
                </a:solidFill>
                <a:latin typeface="微軟正黑體"/>
                <a:ea typeface="微軟正黑體"/>
              </a:rPr>
              <a:t>市民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17231C"/>
                </a:solidFill>
                <a:latin typeface="微軟正黑體"/>
                <a:ea typeface="微軟正黑體"/>
              </a:rPr>
              <a:t>在對的時機收到有用的提醒；點數有地方賺、有地方花；自己的減碳第一次被看見。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40480"/>
            <a:ext cx="3063240" cy="45720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794760"/>
            <a:ext cx="3063240" cy="457200"/>
          </a:xfrm>
          <a:prstGeom prst="roundRect">
            <a:avLst>
              <a:gd name="adj" fmla="val 50000"/>
            </a:avLst>
          </a:prstGeom>
          <a:solidFill>
            <a:srgbClr val="083C37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軟正黑體"/>
                <a:ea typeface="微軟正黑體"/>
              </a:rPr>
              <a:t>「原來我省了這麼多碳」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7" y="1499616"/>
            <a:ext cx="3520440" cy="30175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25112" y="1417320"/>
            <a:ext cx="3520440" cy="301752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99431" y="1691640"/>
            <a:ext cx="1463040" cy="54864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53712" y="1645920"/>
            <a:ext cx="1463040" cy="548640"/>
          </a:xfrm>
          <a:prstGeom prst="roundRect">
            <a:avLst>
              <a:gd name="adj" fmla="val 50000"/>
            </a:avLst>
          </a:prstGeom>
          <a:solidFill>
            <a:srgbClr val="FFD34D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17231C"/>
                </a:solidFill>
                <a:latin typeface="微軟正黑體"/>
                <a:ea typeface="微軟正黑體"/>
              </a:rPr>
              <a:t>北捷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3774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17231C"/>
                </a:solidFill>
                <a:latin typeface="微軟正黑體"/>
                <a:ea typeface="微軟正黑體"/>
              </a:rPr>
              <a:t>App 從查詢工具變成天天打開的生活入口；點數活起來；招商時多了「帶客人」這個新賣點。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99431" y="3840480"/>
            <a:ext cx="3063240" cy="45720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53712" y="3794760"/>
            <a:ext cx="3063240" cy="457200"/>
          </a:xfrm>
          <a:prstGeom prst="roundRect">
            <a:avLst>
              <a:gd name="adj" fmla="val 50000"/>
            </a:avLst>
          </a:prstGeom>
          <a:solidFill>
            <a:srgbClr val="083C37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軟正黑體"/>
                <a:ea typeface="微軟正黑體"/>
              </a:rPr>
              <a:t>「租位子」升級成「帶客人」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499616"/>
            <a:ext cx="3520440" cy="30175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47304" y="1417320"/>
            <a:ext cx="3520440" cy="301752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21624" y="1691640"/>
            <a:ext cx="1463040" cy="54864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75904" y="1645920"/>
            <a:ext cx="1463040" cy="54864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17231C"/>
                </a:solidFill>
                <a:latin typeface="微軟正黑體"/>
                <a:ea typeface="微軟正黑體"/>
              </a:rPr>
              <a:t>店家與場館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5904" y="23774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17231C"/>
                </a:solidFill>
                <a:latin typeface="微軟正黑體"/>
                <a:ea typeface="微軟正黑體"/>
              </a:rPr>
              <a:t>客人剛好在最需要的時刻走到門口；花的每一筆行銷費，都看得到多少人來、多少券被用掉。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21624" y="3840480"/>
            <a:ext cx="3063240" cy="45720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75904" y="3794760"/>
            <a:ext cx="3063240" cy="457200"/>
          </a:xfrm>
          <a:prstGeom prst="roundRect">
            <a:avLst>
              <a:gd name="adj" fmla="val 50000"/>
            </a:avLst>
          </a:prstGeom>
          <a:solidFill>
            <a:srgbClr val="083C37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軟正黑體"/>
                <a:ea typeface="微軟正黑體"/>
              </a:rPr>
              <a:t>看得到成效，才願意付費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846320"/>
            <a:ext cx="11155680" cy="14173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4754880"/>
            <a:ext cx="11155680" cy="1417320"/>
          </a:xfrm>
          <a:prstGeom prst="roundRect">
            <a:avLst>
              <a:gd name="adj" fmla="val 12000"/>
            </a:avLst>
          </a:prstGeom>
          <a:solidFill>
            <a:srgbClr val="0B7A75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937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1">
                <a:solidFill>
                  <a:srgbClr val="FFD34D"/>
                </a:solidFill>
                <a:latin typeface="微軟正黑體"/>
                <a:ea typeface="微軟正黑體"/>
              </a:rPr>
              <a:t>北捷因此多了四種可以「賣」的方案：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軟正黑體"/>
                <a:ea typeface="微軟正黑體"/>
              </a:rPr>
              <a:t>① 站內店家推播導客包　② 租賃空間導客包（電話亭/快閃櫃/快剪）　③ 健康任務共創包（與市府場館）　④ 悠遊付生活圈擴充包（第二階段）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E776F"/>
                </a:solidFill>
                <a:latin typeface="微軟正黑體"/>
                <a:ea typeface="微軟正黑體"/>
              </a:rPr>
              <a:t>從碳客變捷客 · 2026 捷運盃黑客松決賽簡報 · 想領獎金的捷客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6E776F"/>
                </a:solidFill>
                <a:latin typeface="Arial"/>
                <a:ea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48056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17231C"/>
                </a:solidFill>
                <a:latin typeface="Arial Black"/>
                <a:ea typeface="Arial Black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17231C"/>
                </a:solidFill>
                <a:latin typeface="微軟正黑體"/>
                <a:ea typeface="微軟正黑體"/>
              </a:rPr>
              <a:t>錢，算得過來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50292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29800" y="45720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17231C"/>
                </a:solidFill>
                <a:latin typeface="微軟正黑體"/>
                <a:ea typeface="微軟正黑體"/>
              </a:rPr>
              <a:t>首年試算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3520440" cy="155448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520440" cy="155448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>
                <a:solidFill>
                  <a:srgbClr val="6E776F"/>
                </a:solidFill>
                <a:latin typeface="微軟正黑體"/>
                <a:ea typeface="微軟正黑體"/>
              </a:rPr>
              <a:t>合作方付的錢（收入）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800" b="1">
                <a:solidFill>
                  <a:srgbClr val="0B7A75"/>
                </a:solidFill>
                <a:latin typeface="Arial Black"/>
                <a:ea typeface="Arial Black"/>
              </a:rPr>
              <a:t>NT$ 2,270 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1" y="1508760"/>
            <a:ext cx="3520440" cy="155448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20440" cy="155448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1" y="1600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>
                <a:solidFill>
                  <a:srgbClr val="6E776F"/>
                </a:solidFill>
                <a:latin typeface="微軟正黑體"/>
                <a:ea typeface="微軟正黑體"/>
              </a:rPr>
              <a:t>點數回饋＋維運（支出）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1" y="20116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800" b="1">
                <a:solidFill>
                  <a:srgbClr val="F5A524"/>
                </a:solidFill>
                <a:latin typeface="Arial Black"/>
                <a:ea typeface="Arial Black"/>
              </a:rPr>
              <a:t>NT$ 1,525 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38744" y="1508760"/>
            <a:ext cx="3520440" cy="155448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47304" y="1417320"/>
            <a:ext cx="3520440" cy="155448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21624" y="1600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>
                <a:solidFill>
                  <a:srgbClr val="6E776F"/>
                </a:solidFill>
                <a:latin typeface="微軟正黑體"/>
                <a:ea typeface="微軟正黑體"/>
              </a:rPr>
              <a:t>可支應營運餘額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1624" y="20116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800" b="1">
                <a:solidFill>
                  <a:srgbClr val="38B86F"/>
                </a:solidFill>
                <a:latin typeface="Arial Black"/>
                <a:ea typeface="Arial Black"/>
              </a:rPr>
              <a:t>NT$ 745 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291840"/>
            <a:ext cx="7223760" cy="292608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3200400"/>
            <a:ext cx="7223760" cy="2926080"/>
          </a:xfrm>
          <a:prstGeom prst="roundRect">
            <a:avLst>
              <a:gd name="adj" fmla="val 12000"/>
            </a:avLst>
          </a:prstGeom>
          <a:solidFill>
            <a:srgbClr val="083C37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429000"/>
            <a:ext cx="6583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50" b="1">
                <a:solidFill>
                  <a:srgbClr val="FFD34D"/>
                </a:solidFill>
                <a:latin typeface="微軟正黑體"/>
                <a:ea typeface="微軟正黑體"/>
              </a:rPr>
              <a:t>三個讓財務放心的設計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微軟正黑體"/>
                <a:ea typeface="微軟正黑體"/>
              </a:rPr>
              <a:t>① 點數的錢主要不是北捷出：由受惠的店家與場館共同出資，北捷自己的補貼一年上限 600 萬。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微軟正黑體"/>
                <a:ea typeface="微軟正黑體"/>
              </a:rPr>
              <a:t>② 每月 5 萬的合作包，賣出 8 個就損益兩平——這是很務實的門檻。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微軟正黑體"/>
                <a:ea typeface="微軟正黑體"/>
              </a:rPr>
              <a:t>③ 任務有名額、券有張數、活動有預算上限——成本從第一天就是可控的。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C8F3DF"/>
                </a:solidFill>
                <a:latin typeface="微軟正黑體"/>
                <a:ea typeface="微軟正黑體"/>
              </a:rPr>
              <a:t>點數的會計處理依國際準則規劃（細節在附錄，歡迎備詢）；試算數字待北捷確認。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3291840"/>
            <a:ext cx="3657600" cy="292608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01000" y="3200400"/>
            <a:ext cx="3657600" cy="292608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342900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0B7A75"/>
                </a:solidFill>
                <a:latin typeface="微軟正黑體"/>
                <a:ea typeface="微軟正黑體"/>
              </a:rPr>
              <a:t>收入從哪裡來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0">
                <a:solidFill>
                  <a:srgbClr val="17231C"/>
                </a:solidFill>
                <a:latin typeface="微軟正黑體"/>
                <a:ea typeface="微軟正黑體"/>
              </a:rPr>
              <a:t>· 20 個店家合作包：1,200 萬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0">
                <a:solidFill>
                  <a:srgbClr val="17231C"/>
                </a:solidFill>
                <a:latin typeface="微軟正黑體"/>
                <a:ea typeface="微軟正黑體"/>
              </a:rPr>
              <a:t>· 任務回饋池合作：270 萬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0">
                <a:solidFill>
                  <a:srgbClr val="17231C"/>
                </a:solidFill>
                <a:latin typeface="微軟正黑體"/>
                <a:ea typeface="微軟正黑體"/>
              </a:rPr>
              <a:t>· 企業永續共創案：500 萬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50" b="0">
                <a:solidFill>
                  <a:srgbClr val="17231C"/>
                </a:solidFill>
                <a:latin typeface="微軟正黑體"/>
                <a:ea typeface="微軟正黑體"/>
              </a:rPr>
              <a:t>· App 版位與租賃加值：300 萬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6E776F"/>
                </a:solidFill>
                <a:latin typeface="微軟正黑體"/>
                <a:ea typeface="微軟正黑體"/>
              </a:rPr>
              <a:t>合作包內容＝站點曝光＋推播＋任務設計＋核銷＋成效報表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E776F"/>
                </a:solidFill>
                <a:latin typeface="微軟正黑體"/>
                <a:ea typeface="微軟正黑體"/>
              </a:rPr>
              <a:t>從碳客變捷客 · 2026 捷運盃黑客松決賽簡報 · 想領獎金的捷客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6E776F"/>
                </a:solidFill>
                <a:latin typeface="Arial"/>
                <a:ea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48056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17231C"/>
                </a:solidFill>
                <a:latin typeface="Arial Black"/>
                <a:ea typeface="Arial Black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17231C"/>
                </a:solidFill>
                <a:latin typeface="微軟正黑體"/>
                <a:ea typeface="微軟正黑體"/>
              </a:rPr>
              <a:t>每一筆減碳，都經得起查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6949440" cy="306324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6949440" cy="3063240"/>
          </a:xfrm>
          <a:prstGeom prst="roundRect">
            <a:avLst>
              <a:gd name="adj" fmla="val 12000"/>
            </a:avLst>
          </a:prstGeom>
          <a:solidFill>
            <a:srgbClr val="083C37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630936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微軟正黑體"/>
                <a:ea typeface="微軟正黑體"/>
              </a:rPr>
              <a:t>就像雲端發票：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100" b="1">
                <a:solidFill>
                  <a:srgbClr val="FFD34D"/>
                </a:solidFill>
                <a:latin typeface="微軟正黑體"/>
                <a:ea typeface="微軟正黑體"/>
              </a:rPr>
              <a:t>每一筆減碳與兌換，都有存證。</a:t>
            </a:r>
          </a:p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微軟正黑體"/>
                <a:ea typeface="微軟正黑體"/>
              </a:rPr>
              <a:t>· 個人的減碳紀錄自動封存成「自己的資產」：換手機不會丟、拿去企業或學校做永續證明也查得到。</a:t>
            </a:r>
          </a:p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350" b="0">
                <a:solidFill>
                  <a:srgbClr val="C8F3DF"/>
                </a:solidFill>
                <a:latin typeface="微軟正黑體"/>
                <a:ea typeface="微軟正黑體"/>
              </a:rPr>
              <a:t>· 對北捷：點數不會重複發、減碳量不會灌水，外部稽核隨時查得動——這是全場唯一做到可查證的方案。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" y="4736592"/>
            <a:ext cx="6949440" cy="7315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4663440"/>
            <a:ext cx="6949440" cy="73152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7231C"/>
                </a:solidFill>
                <a:latin typeface="Consolas"/>
                <a:ea typeface="Consolas"/>
              </a:rPr>
              <a:t>Human Truth. Machine Proof. — Numbers Protocol 官方技術支持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19" y="1463040"/>
            <a:ext cx="2743200" cy="4663440"/>
          </a:xfrm>
          <a:prstGeom prst="roundRect">
            <a:avLst>
              <a:gd name="adj" fmla="val 7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26679" y="1371600"/>
            <a:ext cx="2743200" cy="4663440"/>
          </a:xfrm>
          <a:prstGeom prst="roundRect">
            <a:avLst>
              <a:gd name="adj" fmla="val 7000"/>
            </a:avLst>
          </a:prstGeom>
          <a:solidFill>
            <a:srgbClr val="FFFDF2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hone-voucher-pro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536192"/>
            <a:ext cx="1917878" cy="39776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26679" y="56235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17231C"/>
                </a:solidFill>
                <a:latin typeface="微軟正黑體"/>
                <a:ea typeface="微軟正黑體"/>
              </a:rPr>
              <a:t>兌換券內嵌「已存證」憑證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641848"/>
            <a:ext cx="6949440" cy="7315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5577840"/>
            <a:ext cx="6949440" cy="731520"/>
          </a:xfrm>
          <a:prstGeom prst="roundRect">
            <a:avLst>
              <a:gd name="adj" fmla="val 12000"/>
            </a:avLst>
          </a:prstGeom>
          <a:solidFill>
            <a:srgbClr val="C8F3DF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50" b="1">
                <a:solidFill>
                  <a:srgbClr val="17231C"/>
                </a:solidFill>
                <a:latin typeface="微軟正黑體"/>
                <a:ea typeface="微軟正黑體"/>
              </a:rPr>
              <a:t>隱私三原則：自己同意才開啟 · 只留統計不留個資 · 隨時可一鍵關閉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E776F"/>
                </a:solidFill>
                <a:latin typeface="微軟正黑體"/>
                <a:ea typeface="微軟正黑體"/>
              </a:rPr>
              <a:t>從碳客變捷客 · 2026 捷運盃黑客松決賽簡報 · 想領獎金的捷客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6E776F"/>
                </a:solidFill>
                <a:latin typeface="Arial"/>
                <a:ea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48056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17231C"/>
                </a:solidFill>
                <a:latin typeface="Arial Black"/>
                <a:ea typeface="Arial Black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17231C"/>
                </a:solidFill>
                <a:latin typeface="微軟正黑體"/>
                <a:ea typeface="微軟正黑體"/>
              </a:rPr>
              <a:t>怎麼落地？三步走，每一步都可以喊停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1453896"/>
            <a:ext cx="3520440" cy="173736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520440" cy="173736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965960" cy="475488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965960" cy="475488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7231C"/>
                </a:solidFill>
                <a:latin typeface="微軟正黑體"/>
                <a:ea typeface="微軟正黑體"/>
              </a:rPr>
              <a:t>第一步 · 現在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1488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17231C"/>
                </a:solidFill>
                <a:latin typeface="微軟正黑體"/>
                <a:ea typeface="微軟正黑體"/>
              </a:rPr>
              <a:t>大家看到的原型：任務、推播、換券、營運後台，全流程可演示。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95928" y="1920240"/>
            <a:ext cx="411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17231C"/>
                </a:solidFill>
                <a:latin typeface="微軟正黑體"/>
                <a:ea typeface="微軟正黑體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1453896"/>
            <a:ext cx="3520440" cy="173736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25112" y="1371600"/>
            <a:ext cx="3520440" cy="173736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99431" y="1600200"/>
            <a:ext cx="1965960" cy="475488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53712" y="1554480"/>
            <a:ext cx="1965960" cy="475488"/>
          </a:xfrm>
          <a:prstGeom prst="roundRect">
            <a:avLst>
              <a:gd name="adj" fmla="val 50000"/>
            </a:avLst>
          </a:prstGeom>
          <a:solidFill>
            <a:srgbClr val="FFD34D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7231C"/>
                </a:solidFill>
                <a:latin typeface="微軟正黑體"/>
                <a:ea typeface="微軟正黑體"/>
              </a:rPr>
              <a:t>第二步 · 試辦半年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1488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17231C"/>
                </a:solidFill>
                <a:latin typeface="微軟正黑體"/>
                <a:ea typeface="微軟正黑體"/>
              </a:rPr>
              <a:t>選 2–3 個示範站點，串既有店家與市府健康政策，實測導客成效。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19" y="1920240"/>
            <a:ext cx="411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17231C"/>
                </a:solidFill>
                <a:latin typeface="微軟正黑體"/>
                <a:ea typeface="微軟正黑體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453896"/>
            <a:ext cx="3520440" cy="173736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47304" y="1371600"/>
            <a:ext cx="3520440" cy="173736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21624" y="1600200"/>
            <a:ext cx="1965960" cy="475488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75904" y="1554480"/>
            <a:ext cx="1965960" cy="475488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7231C"/>
                </a:solidFill>
                <a:latin typeface="微軟正黑體"/>
                <a:ea typeface="微軟正黑體"/>
              </a:rPr>
              <a:t>第三步 · 擴大一年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3336" y="21488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17231C"/>
                </a:solidFill>
                <a:latin typeface="微軟正黑體"/>
                <a:ea typeface="微軟正黑體"/>
              </a:rPr>
              <a:t>接入悠遊付生活圈與更多場館，開放企業永續合作。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" y="3465576"/>
            <a:ext cx="3520440" cy="160020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3383280"/>
            <a:ext cx="3520440" cy="160020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5204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17231C"/>
                </a:solidFill>
                <a:latin typeface="微軟正黑體"/>
                <a:ea typeface="微軟正黑體"/>
              </a:rPr>
              <a:t>嚴世紀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114800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" y="4069080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0B7A75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軟正黑體"/>
                <a:ea typeface="微軟正黑體"/>
              </a:rPr>
              <a:t>Numbers Protocol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39" y="41148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6E776F"/>
                </a:solidFill>
                <a:latin typeface="微軟正黑體"/>
                <a:ea typeface="微軟正黑體"/>
              </a:rPr>
              <a:t>可信資料架構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07407" y="3465576"/>
            <a:ext cx="3520440" cy="160020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325112" y="3383280"/>
            <a:ext cx="3520440" cy="160020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9431" y="35204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17231C"/>
                </a:solidFill>
                <a:latin typeface="微軟正黑體"/>
                <a:ea typeface="微軟正黑體"/>
              </a:rPr>
              <a:t>鍾天傑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45151" y="4114800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599431" y="4069080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1">
                <a:solidFill>
                  <a:srgbClr val="17231C"/>
                </a:solidFill>
                <a:latin typeface="微軟正黑體"/>
                <a:ea typeface="微軟正黑體"/>
              </a:rPr>
              <a:t>LINE Pay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56831" y="41148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6E776F"/>
                </a:solidFill>
                <a:latin typeface="微軟正黑體"/>
                <a:ea typeface="微軟正黑體"/>
              </a:rPr>
              <a:t>點數經濟設計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0" y="3465576"/>
            <a:ext cx="3520440" cy="160020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147304" y="3383280"/>
            <a:ext cx="3520440" cy="160020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21624" y="35204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17231C"/>
                </a:solidFill>
                <a:latin typeface="微軟正黑體"/>
                <a:ea typeface="微軟正黑體"/>
              </a:rPr>
              <a:t>嚴世裕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67344" y="4114800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421624" y="4069080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38B86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軟正黑體"/>
                <a:ea typeface="微軟正黑體"/>
              </a:rPr>
              <a:t>北市府地政局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79024" y="41148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6E776F"/>
                </a:solidFill>
                <a:latin typeface="微軟正黑體"/>
                <a:ea typeface="微軟正黑體"/>
              </a:rPr>
              <a:t>市政政策對接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5349240"/>
            <a:ext cx="11155680" cy="105156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02920" y="5257800"/>
            <a:ext cx="11155680" cy="1051560"/>
          </a:xfrm>
          <a:prstGeom prst="roundRect">
            <a:avLst>
              <a:gd name="adj" fmla="val 12000"/>
            </a:avLst>
          </a:prstGeom>
          <a:solidFill>
            <a:srgbClr val="0B7A75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" y="541324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50" b="1">
                <a:solidFill>
                  <a:srgbClr val="FFD34D"/>
                </a:solidFill>
                <a:latin typeface="微軟正黑體"/>
                <a:ea typeface="微軟正黑體"/>
              </a:rPr>
              <a:t>從碳客變捷客：讓 207 萬人的每一趟通勤，都被看見、被回饋、被信任。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C8F3DF"/>
                </a:solidFill>
                <a:latin typeface="微軟正黑體"/>
                <a:ea typeface="微軟正黑體"/>
              </a:rPr>
              <a:t>誠實標註：碳係數採北捷座談分享之參考值（104/75/29 g/人km），正式導入時以北捷確認版本為準。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E776F"/>
                </a:solidFill>
                <a:latin typeface="微軟正黑體"/>
                <a:ea typeface="微軟正黑體"/>
              </a:rPr>
              <a:t>從碳客變捷客 · 2026 捷運盃黑客松決賽簡報 · 想領獎金的捷客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6E776F"/>
                </a:solidFill>
                <a:latin typeface="Arial"/>
                <a:ea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2103120" cy="50292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11480"/>
            <a:ext cx="2103120" cy="502920"/>
          </a:xfrm>
          <a:prstGeom prst="roundRect">
            <a:avLst>
              <a:gd name="adj" fmla="val 50000"/>
            </a:avLst>
          </a:prstGeom>
          <a:solidFill>
            <a:srgbClr val="083C37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附錄 A1 · 備詢用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411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17231C"/>
                </a:solidFill>
                <a:latin typeface="微軟正黑體"/>
                <a:ea typeface="微軟正黑體"/>
              </a:rPr>
              <a:t>財務細目與點數會計（IFRS 15）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" y="1353312"/>
            <a:ext cx="5486400" cy="493776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5486400" cy="4937760"/>
          </a:xfrm>
          <a:prstGeom prst="roundRect">
            <a:avLst>
              <a:gd name="adj" fmla="val 12000"/>
            </a:avLst>
          </a:prstGeom>
          <a:solidFill>
            <a:srgbClr val="FFF7DF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50" b="1">
                <a:solidFill>
                  <a:srgbClr val="0B7A75"/>
                </a:solidFill>
                <a:latin typeface="微軟正黑體"/>
                <a:ea typeface="微軟正黑體"/>
              </a:rPr>
              <a:t>收入（首年試算 NT$ 2,270 萬）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17231C"/>
                </a:solidFill>
                <a:latin typeface="微軟正黑體"/>
                <a:ea typeface="微軟正黑體"/>
              </a:rPr>
              <a:t>· 站點健康共享合作包：20 包/月 × 5 萬 × 12 = 1,200 萬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17231C"/>
                </a:solidFill>
                <a:latin typeface="微軟正黑體"/>
                <a:ea typeface="微軟正黑體"/>
              </a:rPr>
              <a:t>· 任務回饋池合作金流：37,500 次/月 × 5 點 × 1.2 元 × 12 = 270 萬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17231C"/>
                </a:solidFill>
                <a:latin typeface="微軟正黑體"/>
                <a:ea typeface="微軟正黑體"/>
              </a:rPr>
              <a:t>· ESG／健康品牌共創：2 案 × 250 萬 = 500 萬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17231C"/>
                </a:solidFill>
                <a:latin typeface="微軟正黑體"/>
                <a:ea typeface="微軟正黑體"/>
              </a:rPr>
              <a:t>· App / Go!Map / 租賃加值版位：300 萬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50" b="1">
                <a:solidFill>
                  <a:srgbClr val="F5A524"/>
                </a:solidFill>
                <a:latin typeface="微軟正黑體"/>
                <a:ea typeface="微軟正黑體"/>
              </a:rPr>
              <a:t>支出（首年試算 NT$ 1,525 萬）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17231C"/>
                </a:solidFill>
                <a:latin typeface="微軟正黑體"/>
                <a:ea typeface="微軟正黑體"/>
              </a:rPr>
              <a:t>· 任務回饋履約 225 萬 · 北捷自有補貼上限 600 萬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17231C"/>
                </a:solidFill>
                <a:latin typeface="微軟正黑體"/>
                <a:ea typeface="微軟正黑體"/>
              </a:rPr>
              <a:t>· 資料治理與報表 200 萬 · 系統維運 300 萬 · 營運客服 200 萬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17231C"/>
                </a:solidFill>
                <a:latin typeface="微軟正黑體"/>
                <a:ea typeface="微軟正黑體"/>
              </a:rPr>
              <a:t>損益兩平：含共創收入約 8 個合作包/月；不含共創約 16 包/月。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6792" y="1353312"/>
            <a:ext cx="5394960" cy="493776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280160"/>
            <a:ext cx="5394960" cy="4937760"/>
          </a:xfrm>
          <a:prstGeom prst="roundRect">
            <a:avLst>
              <a:gd name="adj" fmla="val 12000"/>
            </a:avLst>
          </a:prstGeom>
          <a:solidFill>
            <a:srgbClr val="FFF7DF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50876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50" b="1">
                <a:solidFill>
                  <a:srgbClr val="0B7A75"/>
                </a:solidFill>
                <a:latin typeface="微軟正黑體"/>
                <a:ea typeface="微軟正黑體"/>
              </a:rPr>
              <a:t>點數會計處理（依 IFRS 15）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17231C"/>
                </a:solidFill>
                <a:latin typeface="微軟正黑體"/>
                <a:ea typeface="微軟正黑體"/>
              </a:rPr>
              <a:t>· 發點時列「合約負債（遞延收入）」，實際核銷或逾期失效時認列收入。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17231C"/>
                </a:solidFill>
                <a:latin typeface="微軟正黑體"/>
                <a:ea typeface="微軟正黑體"/>
              </a:rPr>
              <a:t>· 未兌換率（Breakage）參照 LINE POINTS、OPENPOINT 等歷史區間估算，避免虛增負債。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17231C"/>
                </a:solidFill>
                <a:latin typeface="微軟正黑體"/>
                <a:ea typeface="微軟正黑體"/>
              </a:rPr>
              <a:t>· 點數池由合作商家出資分攤 + 北捷年上限 600 萬補貼，形成可預算化成本結構。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7231C"/>
                </a:solidFill>
                <a:latin typeface="微軟正黑體"/>
                <a:ea typeface="微軟正黑體"/>
              </a:rPr>
              <a:t>· 研究底稿：LINE POINTS / OPENPOINT / 星巴克 / Marriott 之點數負債與認列實務。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>
                <a:solidFill>
                  <a:srgbClr val="6E776F"/>
                </a:solidFill>
                <a:latin typeface="微軟正黑體"/>
                <a:ea typeface="微軟正黑體"/>
              </a:rPr>
              <a:t>所有數字為提案試算；正式收入認列、點數負債與分潤拆分，需由北捷依合約與財會規範確認。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E776F"/>
                </a:solidFill>
                <a:latin typeface="微軟正黑體"/>
                <a:ea typeface="微軟正黑體"/>
              </a:rPr>
              <a:t>從碳客變捷客 · 附錄（不在 7 分鐘簡報內，供評審提問時備詢）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2103120" cy="50292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11480"/>
            <a:ext cx="2103120" cy="502920"/>
          </a:xfrm>
          <a:prstGeom prst="roundRect">
            <a:avLst>
              <a:gd name="adj" fmla="val 50000"/>
            </a:avLst>
          </a:prstGeom>
          <a:solidFill>
            <a:srgbClr val="083C37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附錄 A2 · 備詢用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411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17231C"/>
                </a:solidFill>
                <a:latin typeface="微軟正黑體"/>
                <a:ea typeface="微軟正黑體"/>
              </a:rPr>
              <a:t>四個示範場景（完整版：資料／回饋／成效）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" y="1353312"/>
            <a:ext cx="5440680" cy="23317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5440680" cy="2331720"/>
          </a:xfrm>
          <a:prstGeom prst="roundRect">
            <a:avLst>
              <a:gd name="adj" fmla="val 12000"/>
            </a:avLst>
          </a:prstGeom>
          <a:solidFill>
            <a:srgbClr val="FFF7DF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508760"/>
            <a:ext cx="2286000" cy="475488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63039"/>
            <a:ext cx="2286000" cy="475488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7231C"/>
                </a:solidFill>
                <a:latin typeface="微軟正黑體"/>
                <a:ea typeface="微軟正黑體"/>
              </a:rPr>
              <a:t>A · 下班健康任務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17231C"/>
                </a:solidFill>
                <a:latin typeface="微軟正黑體"/>
                <a:ea typeface="微軟正黑體"/>
              </a:rPr>
              <a:t>出站推播：「離萬步差 2,000 步，步行 9 分鐘到運動中心，完成入場解鎖本月加成。」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9748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>
                <a:solidFill>
                  <a:srgbClr val="6E776F"/>
                </a:solidFill>
                <a:latin typeface="微軟正黑體"/>
                <a:ea typeface="微軟正黑體"/>
              </a:rPr>
              <a:t>資料：出站站點/時間/自選健康偏好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>
                <a:solidFill>
                  <a:srgbClr val="6E776F"/>
                </a:solidFill>
                <a:latin typeface="微軟正黑體"/>
                <a:ea typeface="微軟正黑體"/>
              </a:rPr>
              <a:t>回饋：捷運點加成、場館券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>
                <a:solidFill>
                  <a:srgbClr val="6E776F"/>
                </a:solidFill>
                <a:latin typeface="微軟正黑體"/>
                <a:ea typeface="微軟正黑體"/>
              </a:rPr>
              <a:t>成效：任務完成、步行里程、減碳量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353312"/>
            <a:ext cx="5440680" cy="23317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440680" cy="2331720"/>
          </a:xfrm>
          <a:prstGeom prst="roundRect">
            <a:avLst>
              <a:gd name="adj" fmla="val 12000"/>
            </a:avLst>
          </a:prstGeom>
          <a:solidFill>
            <a:srgbClr val="FFF7DF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1508760"/>
            <a:ext cx="2286000" cy="475488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46520" y="1463039"/>
            <a:ext cx="2286000" cy="475488"/>
          </a:xfrm>
          <a:prstGeom prst="roundRect">
            <a:avLst>
              <a:gd name="adj" fmla="val 50000"/>
            </a:avLst>
          </a:prstGeom>
          <a:solidFill>
            <a:srgbClr val="FFD34D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7231C"/>
                </a:solidFill>
                <a:latin typeface="微軟正黑體"/>
                <a:ea typeface="微軟正黑體"/>
              </a:rPr>
              <a:t>B · 雨天共享接力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0574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17231C"/>
                </a:solidFill>
                <a:latin typeface="微軟正黑體"/>
                <a:ea typeface="微軟正黑體"/>
              </a:rPr>
              <a:t>出站遇雨推播：「本站出口有 rainGo 共享傘，甲站借乙站還，累積共享任務。」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69748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>
                <a:solidFill>
                  <a:srgbClr val="6E776F"/>
                </a:solidFill>
                <a:latin typeface="微軟正黑體"/>
                <a:ea typeface="微軟正黑體"/>
              </a:rPr>
              <a:t>資料：天氣/站點/共享傘供給狀態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>
                <a:solidFill>
                  <a:srgbClr val="6E776F"/>
                </a:solidFill>
                <a:latin typeface="微軟正黑體"/>
                <a:ea typeface="微軟正黑體"/>
              </a:rPr>
              <a:t>回饋：共享任務章、抽獎、借傘券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>
                <a:solidFill>
                  <a:srgbClr val="6E776F"/>
                </a:solidFill>
                <a:latin typeface="微軟正黑體"/>
                <a:ea typeface="微軟正黑體"/>
              </a:rPr>
              <a:t>成效：曝光、租借導流、減廢敘事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" y="3867912"/>
            <a:ext cx="5440680" cy="23317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3794760"/>
            <a:ext cx="5440680" cy="2331720"/>
          </a:xfrm>
          <a:prstGeom prst="roundRect">
            <a:avLst>
              <a:gd name="adj" fmla="val 12000"/>
            </a:avLst>
          </a:prstGeom>
          <a:solidFill>
            <a:srgbClr val="FFF7DF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4023360"/>
            <a:ext cx="2286000" cy="475488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3977640"/>
            <a:ext cx="2286000" cy="475488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7231C"/>
                </a:solidFill>
                <a:latin typeface="微軟正黑體"/>
                <a:ea typeface="微軟正黑體"/>
              </a:rPr>
              <a:t>C · 週末低碳生活圈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720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17231C"/>
                </a:solidFill>
                <a:latin typeface="微軟正黑體"/>
                <a:ea typeface="微軟正黑體"/>
              </a:rPr>
              <a:t>週末模式：「捷運到大安森林公園站 + YouBike 10 分鐘 + 站內亞尼克補給。」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21208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>
                <a:solidFill>
                  <a:srgbClr val="6E776F"/>
                </a:solidFill>
                <a:latin typeface="微軟正黑體"/>
                <a:ea typeface="微軟正黑體"/>
              </a:rPr>
              <a:t>資料：週末模式/興趣偏好/YouBike 站點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>
                <a:solidFill>
                  <a:srgbClr val="6E776F"/>
                </a:solidFill>
                <a:latin typeface="微軟正黑體"/>
                <a:ea typeface="微軟正黑體"/>
              </a:rPr>
              <a:t>回饋：完成整段行程領加成或合作券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>
                <a:solidFill>
                  <a:srgbClr val="6E776F"/>
                </a:solidFill>
                <a:latin typeface="微軟正黑體"/>
                <a:ea typeface="微軟正黑體"/>
              </a:rPr>
              <a:t>成效：路線完成率、點擊、換券核銷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867912"/>
            <a:ext cx="5440680" cy="23317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17920" y="3794760"/>
            <a:ext cx="5440680" cy="2331720"/>
          </a:xfrm>
          <a:prstGeom prst="roundRect">
            <a:avLst>
              <a:gd name="adj" fmla="val 12000"/>
            </a:avLst>
          </a:prstGeom>
          <a:solidFill>
            <a:srgbClr val="FFF7DF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92240" y="4023360"/>
            <a:ext cx="2286000" cy="475488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46520" y="3977640"/>
            <a:ext cx="2286000" cy="475488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7231C"/>
                </a:solidFill>
                <a:latin typeface="微軟正黑體"/>
                <a:ea typeface="微軟正黑體"/>
              </a:rPr>
              <a:t>D · 轉乘空檔服務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5720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17231C"/>
                </a:solidFill>
                <a:latin typeface="微軟正黑體"/>
                <a:ea typeface="微軟正黑體"/>
              </a:rPr>
              <a:t>35 分鐘空檔：「中山站小樹屋電話亭可預約；快閃櫃可用捷運點換券；沿線快剪低等待。」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521208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>
                <a:solidFill>
                  <a:srgbClr val="6E776F"/>
                </a:solidFill>
                <a:latin typeface="微軟正黑體"/>
                <a:ea typeface="微軟正黑體"/>
              </a:rPr>
              <a:t>資料：轉乘時段/站點租賃服務/偏好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>
                <a:solidFill>
                  <a:srgbClr val="6E776F"/>
                </a:solidFill>
                <a:latin typeface="微軟正黑體"/>
                <a:ea typeface="微軟正黑體"/>
              </a:rPr>
              <a:t>回饋：時租券、試用券、導購任務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>
                <a:solidFill>
                  <a:srgbClr val="6E776F"/>
                </a:solidFill>
                <a:latin typeface="微軟正黑體"/>
                <a:ea typeface="微軟正黑體"/>
              </a:rPr>
              <a:t>成效：預約、到店、核銷、租戶導客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E776F"/>
                </a:solidFill>
                <a:latin typeface="微軟正黑體"/>
                <a:ea typeface="微軟正黑體"/>
              </a:rPr>
              <a:t>從碳客變捷客 · 附錄（不在 7 分鐘簡報內，供評審提問時備詢）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2103120" cy="50292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11480"/>
            <a:ext cx="2103120" cy="502920"/>
          </a:xfrm>
          <a:prstGeom prst="roundRect">
            <a:avLst>
              <a:gd name="adj" fmla="val 50000"/>
            </a:avLst>
          </a:prstGeom>
          <a:solidFill>
            <a:srgbClr val="083C37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附錄 A3 · 備詢用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411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17231C"/>
                </a:solidFill>
                <a:latin typeface="微軟正黑體"/>
                <a:ea typeface="微軟正黑體"/>
              </a:rPr>
              <a:t>點數機制：先設計行為，再決定發點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44168"/>
            <a:ext cx="2112264" cy="137160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2112264" cy="1371600"/>
          </a:xfrm>
          <a:prstGeom prst="roundRect">
            <a:avLst>
              <a:gd name="adj" fmla="val 12000"/>
            </a:avLst>
          </a:prstGeom>
          <a:solidFill>
            <a:srgbClr val="FFF7DF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417320"/>
            <a:ext cx="1819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0B7A75"/>
                </a:solidFill>
                <a:latin typeface="微軟正黑體"/>
                <a:ea typeface="微軟正黑體"/>
              </a:rPr>
              <a:t>① 觸發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828800"/>
            <a:ext cx="181965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17231C"/>
                </a:solidFill>
                <a:latin typeface="微軟正黑體"/>
                <a:ea typeface="微軟正黑體"/>
              </a:rPr>
              <a:t>出站、靠近共享服務、選擇健康任務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43784" y="1344168"/>
            <a:ext cx="2112264" cy="137160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79776" y="1280160"/>
            <a:ext cx="2112264" cy="1371600"/>
          </a:xfrm>
          <a:prstGeom prst="roundRect">
            <a:avLst>
              <a:gd name="adj" fmla="val 12000"/>
            </a:avLst>
          </a:prstGeom>
          <a:solidFill>
            <a:srgbClr val="FFF7DF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44368" y="1417320"/>
            <a:ext cx="1819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0B7A75"/>
                </a:solidFill>
                <a:latin typeface="微軟正黑體"/>
                <a:ea typeface="微軟正黑體"/>
              </a:rPr>
              <a:t>② 判斷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1828800"/>
            <a:ext cx="181965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17231C"/>
                </a:solidFill>
                <a:latin typeface="微軟正黑體"/>
                <a:ea typeface="微軟正黑體"/>
              </a:rPr>
              <a:t>站點×時間×天氣×偏好選出推薦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344168"/>
            <a:ext cx="2112264" cy="137160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56632" y="1280160"/>
            <a:ext cx="2112264" cy="1371600"/>
          </a:xfrm>
          <a:prstGeom prst="roundRect">
            <a:avLst>
              <a:gd name="adj" fmla="val 12000"/>
            </a:avLst>
          </a:prstGeom>
          <a:solidFill>
            <a:srgbClr val="FFF7DF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21224" y="1417320"/>
            <a:ext cx="1819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0B7A75"/>
                </a:solidFill>
                <a:latin typeface="微軟正黑體"/>
                <a:ea typeface="微軟正黑體"/>
              </a:rPr>
              <a:t>③ 行動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1828800"/>
            <a:ext cx="181965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17231C"/>
                </a:solidFill>
                <a:latin typeface="微軟正黑體"/>
                <a:ea typeface="微軟正黑體"/>
              </a:rPr>
              <a:t>步行/騎車/借傘/預約站內服務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97496" y="1344168"/>
            <a:ext cx="2112264" cy="137160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33488" y="1280160"/>
            <a:ext cx="2112264" cy="1371600"/>
          </a:xfrm>
          <a:prstGeom prst="roundRect">
            <a:avLst>
              <a:gd name="adj" fmla="val 12000"/>
            </a:avLst>
          </a:prstGeom>
          <a:solidFill>
            <a:srgbClr val="FFF7DF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0" y="1417320"/>
            <a:ext cx="1819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0B7A75"/>
                </a:solidFill>
                <a:latin typeface="微軟正黑體"/>
                <a:ea typeface="微軟正黑體"/>
              </a:rPr>
              <a:t>④ 回饋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1828800"/>
            <a:ext cx="181965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17231C"/>
                </a:solidFill>
                <a:latin typeface="微軟正黑體"/>
                <a:ea typeface="微軟正黑體"/>
              </a:rPr>
              <a:t>點數加成、券、任務章（設預算上限）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74352" y="1344168"/>
            <a:ext cx="2112264" cy="137160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10344" y="1280160"/>
            <a:ext cx="2112264" cy="1371600"/>
          </a:xfrm>
          <a:prstGeom prst="roundRect">
            <a:avLst>
              <a:gd name="adj" fmla="val 12000"/>
            </a:avLst>
          </a:prstGeom>
          <a:solidFill>
            <a:srgbClr val="FFF7DF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74936" y="1417320"/>
            <a:ext cx="1819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0B7A75"/>
                </a:solidFill>
                <a:latin typeface="微軟正黑體"/>
                <a:ea typeface="微軟正黑體"/>
              </a:rPr>
              <a:t>⑤ 衡量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74936" y="1828800"/>
            <a:ext cx="181965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17231C"/>
                </a:solidFill>
                <a:latin typeface="微軟正黑體"/>
                <a:ea typeface="微軟正黑體"/>
              </a:rPr>
              <a:t>開啟率、核銷、導客 → 定價依據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2926080"/>
            <a:ext cx="1481328" cy="502920"/>
          </a:xfrm>
          <a:prstGeom prst="roundRect">
            <a:avLst>
              <a:gd name="adj" fmla="val 12000"/>
            </a:avLst>
          </a:prstGeom>
          <a:solidFill>
            <a:srgbClr val="083C37"/>
          </a:solidFill>
          <a:ln w="190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" y="29992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微軟正黑體"/>
                <a:ea typeface="微軟正黑體"/>
              </a:rPr>
              <a:t>任務類型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057400" y="2926080"/>
            <a:ext cx="3218688" cy="502920"/>
          </a:xfrm>
          <a:prstGeom prst="roundRect">
            <a:avLst>
              <a:gd name="adj" fmla="val 12000"/>
            </a:avLst>
          </a:prstGeom>
          <a:solidFill>
            <a:srgbClr val="083C37"/>
          </a:solidFill>
          <a:ln w="190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30552" y="299923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微軟正黑體"/>
                <a:ea typeface="微軟正黑體"/>
              </a:rPr>
              <a:t>使用者行為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49240" y="2926080"/>
            <a:ext cx="2121408" cy="502920"/>
          </a:xfrm>
          <a:prstGeom prst="roundRect">
            <a:avLst>
              <a:gd name="adj" fmla="val 12000"/>
            </a:avLst>
          </a:prstGeom>
          <a:solidFill>
            <a:srgbClr val="083C37"/>
          </a:solidFill>
          <a:ln w="190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22392" y="2999232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微軟正黑體"/>
                <a:ea typeface="微軟正黑體"/>
              </a:rPr>
              <a:t>回饋方式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43800" y="2926080"/>
            <a:ext cx="2121408" cy="502920"/>
          </a:xfrm>
          <a:prstGeom prst="roundRect">
            <a:avLst>
              <a:gd name="adj" fmla="val 12000"/>
            </a:avLst>
          </a:prstGeom>
          <a:solidFill>
            <a:srgbClr val="083C37"/>
          </a:solidFill>
          <a:ln w="190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16952" y="2999232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微軟正黑體"/>
                <a:ea typeface="微軟正黑體"/>
              </a:rPr>
              <a:t>成本控制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38360" y="2926080"/>
            <a:ext cx="1847088" cy="502920"/>
          </a:xfrm>
          <a:prstGeom prst="roundRect">
            <a:avLst>
              <a:gd name="adj" fmla="val 12000"/>
            </a:avLst>
          </a:prstGeom>
          <a:solidFill>
            <a:srgbClr val="083C37"/>
          </a:solidFill>
          <a:ln w="190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11512" y="299923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微軟正黑體"/>
                <a:ea typeface="微軟正黑體"/>
              </a:rPr>
              <a:t>資料治理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3474720"/>
            <a:ext cx="1481328" cy="621792"/>
          </a:xfrm>
          <a:prstGeom prst="roundRect">
            <a:avLst>
              <a:gd name="adj" fmla="val 12000"/>
            </a:avLst>
          </a:prstGeom>
          <a:solidFill>
            <a:srgbClr val="FFF7DF"/>
          </a:solidFill>
          <a:ln w="1524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" y="3529584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17231C"/>
                </a:solidFill>
                <a:latin typeface="微軟正黑體"/>
                <a:ea typeface="微軟正黑體"/>
              </a:rPr>
              <a:t>健康減碳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057400" y="3474720"/>
            <a:ext cx="3218688" cy="621792"/>
          </a:xfrm>
          <a:prstGeom prst="roundRect">
            <a:avLst>
              <a:gd name="adj" fmla="val 12000"/>
            </a:avLst>
          </a:prstGeom>
          <a:solidFill>
            <a:srgbClr val="FFF7DF"/>
          </a:solidFill>
          <a:ln w="1524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30552" y="3529584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17231C"/>
                </a:solidFill>
                <a:latin typeface="微軟正黑體"/>
                <a:ea typeface="微軟正黑體"/>
              </a:rPr>
              <a:t>出站步行到 U-Sport 場館 / U-Walk 目標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49240" y="3474720"/>
            <a:ext cx="2121408" cy="621792"/>
          </a:xfrm>
          <a:prstGeom prst="roundRect">
            <a:avLst>
              <a:gd name="adj" fmla="val 12000"/>
            </a:avLst>
          </a:prstGeom>
          <a:solidFill>
            <a:srgbClr val="FFF7DF"/>
          </a:solidFill>
          <a:ln w="1524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22392" y="3529584"/>
            <a:ext cx="20116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17231C"/>
                </a:solidFill>
                <a:latin typeface="微軟正黑體"/>
                <a:ea typeface="微軟正黑體"/>
              </a:rPr>
              <a:t>點數加成、場館券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543800" y="3474720"/>
            <a:ext cx="2121408" cy="621792"/>
          </a:xfrm>
          <a:prstGeom prst="roundRect">
            <a:avLst>
              <a:gd name="adj" fmla="val 12000"/>
            </a:avLst>
          </a:prstGeom>
          <a:solidFill>
            <a:srgbClr val="FFF7DF"/>
          </a:solidFill>
          <a:ln w="1524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16952" y="3529584"/>
            <a:ext cx="20116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17231C"/>
                </a:solidFill>
                <a:latin typeface="微軟正黑體"/>
                <a:ea typeface="微軟正黑體"/>
              </a:rPr>
              <a:t>每月上限、活動名額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738360" y="3474720"/>
            <a:ext cx="1847088" cy="621792"/>
          </a:xfrm>
          <a:prstGeom prst="roundRect">
            <a:avLst>
              <a:gd name="adj" fmla="val 12000"/>
            </a:avLst>
          </a:prstGeom>
          <a:solidFill>
            <a:srgbClr val="FFF7DF"/>
          </a:solidFill>
          <a:ln w="1524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11512" y="3529584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17231C"/>
                </a:solidFill>
                <a:latin typeface="微軟正黑體"/>
                <a:ea typeface="微軟正黑體"/>
              </a:rPr>
              <a:t>健康資料明確授權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4160520"/>
            <a:ext cx="1481328" cy="621792"/>
          </a:xfrm>
          <a:prstGeom prst="roundRect">
            <a:avLst>
              <a:gd name="adj" fmla="val 12000"/>
            </a:avLst>
          </a:prstGeom>
          <a:solidFill>
            <a:srgbClr val="FFF7DF"/>
          </a:solidFill>
          <a:ln w="1524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6072" y="4215383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17231C"/>
                </a:solidFill>
                <a:latin typeface="微軟正黑體"/>
                <a:ea typeface="微軟正黑體"/>
              </a:rPr>
              <a:t>共享服務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057400" y="4160520"/>
            <a:ext cx="3218688" cy="621792"/>
          </a:xfrm>
          <a:prstGeom prst="roundRect">
            <a:avLst>
              <a:gd name="adj" fmla="val 12000"/>
            </a:avLst>
          </a:prstGeom>
          <a:solidFill>
            <a:srgbClr val="FFF7DF"/>
          </a:solidFill>
          <a:ln w="1524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30552" y="4215383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17231C"/>
                </a:solidFill>
                <a:latin typeface="微軟正黑體"/>
                <a:ea typeface="微軟正黑體"/>
              </a:rPr>
              <a:t>借還共享傘/行動電源、YouBike 接駁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349240" y="4160520"/>
            <a:ext cx="2121408" cy="621792"/>
          </a:xfrm>
          <a:prstGeom prst="roundRect">
            <a:avLst>
              <a:gd name="adj" fmla="val 12000"/>
            </a:avLst>
          </a:prstGeom>
          <a:solidFill>
            <a:srgbClr val="FFF7DF"/>
          </a:solidFill>
          <a:ln w="1524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22392" y="4215383"/>
            <a:ext cx="20116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17231C"/>
                </a:solidFill>
                <a:latin typeface="微軟正黑體"/>
                <a:ea typeface="微軟正黑體"/>
              </a:rPr>
              <a:t>任務章、折抵券、抽獎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543800" y="4160520"/>
            <a:ext cx="2121408" cy="621792"/>
          </a:xfrm>
          <a:prstGeom prst="roundRect">
            <a:avLst>
              <a:gd name="adj" fmla="val 12000"/>
            </a:avLst>
          </a:prstGeom>
          <a:solidFill>
            <a:srgbClr val="FFF7DF"/>
          </a:solidFill>
          <a:ln w="1524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16952" y="4215383"/>
            <a:ext cx="20116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17231C"/>
                </a:solidFill>
                <a:latin typeface="微軟正黑體"/>
                <a:ea typeface="微軟正黑體"/>
              </a:rPr>
              <a:t>以券量控制，廠商分攤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738360" y="4160520"/>
            <a:ext cx="1847088" cy="621792"/>
          </a:xfrm>
          <a:prstGeom prst="roundRect">
            <a:avLst>
              <a:gd name="adj" fmla="val 12000"/>
            </a:avLst>
          </a:prstGeom>
          <a:solidFill>
            <a:srgbClr val="FFF7DF"/>
          </a:solidFill>
          <a:ln w="1524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811512" y="4215383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17231C"/>
                </a:solidFill>
                <a:latin typeface="微軟正黑體"/>
                <a:ea typeface="微軟正黑體"/>
              </a:rPr>
              <a:t>事件紀錄，MVP 用 QR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02920" y="4846320"/>
            <a:ext cx="1481328" cy="621792"/>
          </a:xfrm>
          <a:prstGeom prst="roundRect">
            <a:avLst>
              <a:gd name="adj" fmla="val 12000"/>
            </a:avLst>
          </a:prstGeom>
          <a:solidFill>
            <a:srgbClr val="FFF7DF"/>
          </a:solidFill>
          <a:ln w="1524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76072" y="4901183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17231C"/>
                </a:solidFill>
                <a:latin typeface="微軟正黑體"/>
                <a:ea typeface="微軟正黑體"/>
              </a:rPr>
              <a:t>站內補給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057400" y="4846320"/>
            <a:ext cx="3218688" cy="621792"/>
          </a:xfrm>
          <a:prstGeom prst="roundRect">
            <a:avLst>
              <a:gd name="adj" fmla="val 12000"/>
            </a:avLst>
          </a:prstGeom>
          <a:solidFill>
            <a:srgbClr val="FFF7DF"/>
          </a:solidFill>
          <a:ln w="1524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30552" y="4901183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17231C"/>
                </a:solidFill>
                <a:latin typeface="微軟正黑體"/>
                <a:ea typeface="微軟正黑體"/>
              </a:rPr>
              <a:t>亞尼克 YTM、全家、黑潮等站內消費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349240" y="4846320"/>
            <a:ext cx="2121408" cy="621792"/>
          </a:xfrm>
          <a:prstGeom prst="roundRect">
            <a:avLst>
              <a:gd name="adj" fmla="val 12000"/>
            </a:avLst>
          </a:prstGeom>
          <a:solidFill>
            <a:srgbClr val="FFF7DF"/>
          </a:solidFill>
          <a:ln w="1524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22392" y="4901183"/>
            <a:ext cx="20116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17231C"/>
                </a:solidFill>
                <a:latin typeface="微軟正黑體"/>
                <a:ea typeface="微軟正黑體"/>
              </a:rPr>
              <a:t>點數折抵、換券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543800" y="4846320"/>
            <a:ext cx="2121408" cy="621792"/>
          </a:xfrm>
          <a:prstGeom prst="roundRect">
            <a:avLst>
              <a:gd name="adj" fmla="val 12000"/>
            </a:avLst>
          </a:prstGeom>
          <a:solidFill>
            <a:srgbClr val="FFF7DF"/>
          </a:solidFill>
          <a:ln w="1524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616952" y="4901183"/>
            <a:ext cx="20116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17231C"/>
                </a:solidFill>
                <a:latin typeface="微軟正黑體"/>
                <a:ea typeface="微軟正黑體"/>
              </a:rPr>
              <a:t>商家購買導流方案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738360" y="4846320"/>
            <a:ext cx="1847088" cy="621792"/>
          </a:xfrm>
          <a:prstGeom prst="roundRect">
            <a:avLst>
              <a:gd name="adj" fmla="val 12000"/>
            </a:avLst>
          </a:prstGeom>
          <a:solidFill>
            <a:srgbClr val="FFF7DF"/>
          </a:solidFill>
          <a:ln w="1524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811512" y="4901183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17231C"/>
                </a:solidFill>
                <a:latin typeface="微軟正黑體"/>
                <a:ea typeface="微軟正黑體"/>
              </a:rPr>
              <a:t>只回傳核銷統計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02920" y="5532120"/>
            <a:ext cx="1481328" cy="621792"/>
          </a:xfrm>
          <a:prstGeom prst="roundRect">
            <a:avLst>
              <a:gd name="adj" fmla="val 12000"/>
            </a:avLst>
          </a:prstGeom>
          <a:solidFill>
            <a:srgbClr val="FFF7DF"/>
          </a:solidFill>
          <a:ln w="1524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76072" y="5586983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17231C"/>
                </a:solidFill>
                <a:latin typeface="微軟正黑體"/>
                <a:ea typeface="微軟正黑體"/>
              </a:rPr>
              <a:t>租賃導客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057400" y="5532120"/>
            <a:ext cx="3218688" cy="621792"/>
          </a:xfrm>
          <a:prstGeom prst="roundRect">
            <a:avLst>
              <a:gd name="adj" fmla="val 12000"/>
            </a:avLst>
          </a:prstGeom>
          <a:solidFill>
            <a:srgbClr val="FFF7DF"/>
          </a:solidFill>
          <a:ln w="1524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130552" y="5586983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17231C"/>
                </a:solidFill>
                <a:latin typeface="微軟正黑體"/>
                <a:ea typeface="微軟正黑體"/>
              </a:rPr>
              <a:t>預約電話亭、快剪、快閃櫃、取貨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349240" y="5532120"/>
            <a:ext cx="2121408" cy="621792"/>
          </a:xfrm>
          <a:prstGeom prst="roundRect">
            <a:avLst>
              <a:gd name="adj" fmla="val 12000"/>
            </a:avLst>
          </a:prstGeom>
          <a:solidFill>
            <a:srgbClr val="FFF7DF"/>
          </a:solidFill>
          <a:ln w="1524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422392" y="5586983"/>
            <a:ext cx="20116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17231C"/>
                </a:solidFill>
                <a:latin typeface="微軟正黑體"/>
                <a:ea typeface="微軟正黑體"/>
              </a:rPr>
              <a:t>會員券、點數兌換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543800" y="5532120"/>
            <a:ext cx="2121408" cy="621792"/>
          </a:xfrm>
          <a:prstGeom prst="roundRect">
            <a:avLst>
              <a:gd name="adj" fmla="val 12000"/>
            </a:avLst>
          </a:prstGeom>
          <a:solidFill>
            <a:srgbClr val="FFF7DF"/>
          </a:solidFill>
          <a:ln w="1524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616952" y="5586983"/>
            <a:ext cx="20116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17231C"/>
                </a:solidFill>
                <a:latin typeface="微軟正黑體"/>
                <a:ea typeface="微軟正黑體"/>
              </a:rPr>
              <a:t>廠商購買導客包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738360" y="5532120"/>
            <a:ext cx="1847088" cy="621792"/>
          </a:xfrm>
          <a:prstGeom prst="roundRect">
            <a:avLst>
              <a:gd name="adj" fmla="val 12000"/>
            </a:avLst>
          </a:prstGeom>
          <a:solidFill>
            <a:srgbClr val="FFF7DF"/>
          </a:solidFill>
          <a:ln w="1524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811512" y="5586983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17231C"/>
                </a:solidFill>
                <a:latin typeface="微軟正黑體"/>
                <a:ea typeface="微軟正黑體"/>
              </a:rPr>
              <a:t>素材經北捷審查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E776F"/>
                </a:solidFill>
                <a:latin typeface="微軟正黑體"/>
                <a:ea typeface="微軟正黑體"/>
              </a:rPr>
              <a:t>從碳客變捷客 · 附錄（不在 7 分鐘簡報內，供評審提問時備詢）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