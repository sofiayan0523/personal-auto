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（30 秒）評審好，我們是「想領獎金的捷客」。我們的提案一句話：把捷運點，變成健康生活圈的入口。接下來 7 分鐘，我會講三件事：市民為什麼無感、我們怎麼讓他有感、以及北捷為什麼划算。右邊這個原型現在就在線上，掃 QR 就能玩。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秒）台北捷運每天有 207 萬人次在搭，但 Go App 大多只在查路線的時候被打開。這帶出三個連鎖問題：第一，App 打開沒事做，查完就關；第二，點數賺了不知道去哪花，很多就放到過期；第三，減碳只是口號——沒有人告訴市民「你今天這趟省了多少碳」。這三個問題其實是同一個：App 沒有走進日常生活。我們的答案，從出站的那一刻開始。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秒）我們的解法一句話：出站那一刻，App 說一句剛好有用的話。整份提案就三句骨架。第一「站點即場景」：推薦回到此站、此時、此需求——下雨給傘、沒電給充電。第二「任務即誘因」：走一段路、借一把傘都是任務，完成就有捷運點，點數第一次有了明確的賺法和花法。第三「成效即產品」：多少人來、多少券被用掉，北捷看得到，還能把成效賣給合作店家。後面每一頁，都是這三句話的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秒）很多提案要蓋新東西，我們相反——這些服務全部已經在站裡了。左邊是市府已經在推的健康政策：U-Sport 運動集點、U-Walk 萬步走、YouBike 接駁補助，直接對接，不用新建。右邊是站裡已經在營業的店家：共享傘、行動電源、蛋糕機、電話亭，它們本來就付租金、本來就需要人流。我們做的，是把「租位子」升級成「帶客人」。一句話：不新建任何東西，只是把它們串在市民回家的那條路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秒）讓我用一個下班的傍晚說明。17:52 出站，下雨了，App 說：4 號出口有共享傘。18:05，App 說：離萬步還差兩千步，走 8 分鐘到運動中心，這個月加成就解鎖。18:40 回家前：騎 YouBike 接駁可以再加成，站內蛋糕機捷運點可折抵。重點是右邊——每句話背後用的只有：這一站、這個時間、這個天氣、加上使用者自己勾選的偏好。不追蹤行蹤、不看消費紀錄。提醒有用，是因為時機剛好。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秒）光有用還不夠，要讓人每天想打開。我們的答案是一座森林。你省下的碳會養大一座森林——減碳量不再是數字，是眼前長出來的樹。做健康任務會孵出小夥伴：騎 YouBike 孵出輪輪、走萬步孵出步步，各站還有限定裝扮可以收集，靈感來自皮克敏。每週日回來收成種子、培育神木，一週一個小儀式。一句話：點數給人「該用」的理由，森林給人「想回來」的理由。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（35 秒）這些不是概念圖。掃這個 QR，手機上現在就能玩，免安裝。3 分鐘走完全部：開場故事、出站結算、任務孵蛋、森林收成、花點換券。最後一步是評審高光：切到北捷營運後台，剛才在乘客端做的每個動作，即時出現在後台的事件流——這就是「成效即產品」的實際畫面。我們也準備了離線版，現場網路斷了照樣能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秒）北捷為什麼要做？因為三方各拿到自己要的。市民：提醒有用、點數有地方花、減碳第一次被看見。北捷：App 變成天天打開的生活入口，招商多了「帶客人」這個新賣點。店家與場館：客人剛好走到門口，行銷費看得到成效。也因為成效看得到，北捷多了四種可以賣的方案：店家推播包、租賃導客包、健康共創包，以及第二階段的悠遊付擴充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（40 秒）錢算得過來。首年試算：合作方付 2,270 萬，點數回饋加維運 1,525 萬，剩 745 萬營運餘額。三個讓財務放心的設計：第一，點數的錢主要不是北捷出，是受惠店家共同出資，北捷補貼一年上限 600 萬；第二，每月五萬的合作包賣出 8 個就損益兩平，門檻很務實；第三，任務有名額、券有張數，成本第一天就可控。點數會計依國際準則規劃，細節在附錄，歡迎備詢。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（30 秒）最後是信任。打個比方：就像雲端發票，每一筆減碳與兌換都有存證。對市民，減碳紀錄變成自己的資產，換手機不會丟；對北捷，點數不會重複發、減碳量不會灌水，外部稽核隨時查得動——這是全場唯一做到可查證的方案，由 Numbers Protocol 提供技術支持。隱私三原則：自己同意才開啟、只留統計不留個資、隨時可關閉。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秒）落地策略是小步驗證，一站一站放大。第一步就是今天的原型，動線 3 分鐘可走完；第二步試辦半年，選 2 到 3 個示範站，驗收真實的開啟率、導客數和核銷率；第三步接入悠遊付生活圈擴大。每一步都有明確驗收點——北捷不必一次下注，用示範站的數字決定要不要放大。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（25 秒）這個提案需要三種能力，我們剛好湊齊：Numbers Protocol 的可信資料技術，負責每一筆減碳經得起查；LINE Pay 的點數經濟實戰，負責點數有地方賺、有地方花；市府的政策與合規經驗，負責健康政策串得上、審查過得了。結尾一句話：從碳客變捷客，讓 207 萬人的每一趟通勤，都被看見、被回饋、被信任。謝謝評審。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附錄頁，不在 7 分鐘內。財務或會計評審提問時使用。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附錄頁。評審想深入單一場景的資料邊界與成效指標時使用。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附錄頁。評審深究點數成本控制與資料治理邊界時使用。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12648" y="612648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502920"/>
            <a:ext cx="6766560" cy="5852160"/>
          </a:xfrm>
          <a:prstGeom prst="roundRect">
            <a:avLst>
              <a:gd name="adj" fmla="val 6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914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>
                <a:solidFill>
                  <a:srgbClr val="C8F3DF"/>
                </a:solidFill>
                <a:latin typeface="微軟正黑體"/>
                <a:ea typeface="微軟正黑體"/>
              </a:rPr>
              <a:t>2026 捷運盃黑客松 · 決賽提案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6035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微軟正黑體"/>
                <a:ea typeface="微軟正黑體"/>
              </a:rPr>
              <a:t>從碳客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600" b="1">
                <a:solidFill>
                  <a:srgbClr val="FFD34D"/>
                </a:solidFill>
                <a:latin typeface="微軟正黑體"/>
                <a:ea typeface="微軟正黑體"/>
              </a:rPr>
              <a:t>變捷客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8992" y="4187952"/>
            <a:ext cx="5577840" cy="749808"/>
          </a:xfrm>
          <a:prstGeom prst="roundRect">
            <a:avLst>
              <a:gd name="adj" fmla="val 3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21510000">
            <a:off x="1005840" y="4114800"/>
            <a:ext cx="5577840" cy="749808"/>
          </a:xfrm>
          <a:prstGeom prst="roundRect">
            <a:avLst>
              <a:gd name="adj" fmla="val 30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000" b="1">
                <a:solidFill>
                  <a:srgbClr val="17231C"/>
                </a:solidFill>
                <a:latin typeface="微軟正黑體"/>
                <a:ea typeface="微軟正黑體"/>
              </a:rPr>
              <a:t>把捷運點，變成健康生活圈的入口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166360"/>
            <a:ext cx="5669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團隊：想領獎金的捷客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C8F3DF"/>
                </a:solidFill>
                <a:latin typeface="微軟正黑體"/>
                <a:ea typeface="微軟正黑體"/>
              </a:rPr>
              <a:t>每一次通勤，都是可驗證的減碳資產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44967" y="1161288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35240" y="1051560"/>
            <a:ext cx="4023360" cy="3200400"/>
          </a:xfrm>
          <a:prstGeom prst="roundRect">
            <a:avLst>
              <a:gd name="adj" fmla="val 8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280160"/>
            <a:ext cx="3657600" cy="244792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09560" y="402335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21480000">
            <a:off x="7863840" y="3977639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FF6A3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決賽 10 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402335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90000">
            <a:off x="9555480" y="3977639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互動原型可玩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89204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6E776F"/>
                </a:solidFill>
                <a:latin typeface="微軟正黑體"/>
                <a:ea typeface="微軟正黑體"/>
              </a:rPr>
              <a:t>線上互動原型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B7A75"/>
                </a:solidFill>
                <a:latin typeface="Consolas"/>
                <a:ea typeface="Consolas"/>
              </a:rPr>
              <a:t>from-carbon-metro-vote.pages.dev/demo/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每天 207 萬人搭捷運，但 Go App 只在查路線時被想起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微軟正黑體"/>
                <a:ea typeface="微軟正黑體"/>
              </a:rPr>
              <a:t>臺北捷運平均日運量 207.4 萬人次（114 年公開營運統計）— 每一趟，其實都是一筆沒被看見的減碳貢獻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734056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926079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打開沒事做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現在的 Go App 偏「查資訊」：查完時刻表、看完路線，就關掉了。日常通勤沒有理由再打開它。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734056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9431" y="2926079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53712" y="288036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點數放到過期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5661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搭車有累點，但賺了不知道去哪花、花了也沒感覺。很多捷運點就這樣安靜地過期。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734056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265176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21624" y="2926079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75904" y="2880360"/>
            <a:ext cx="1920240" cy="50292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減碳只是口號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356616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大家都知道搭捷運環保，但「我今天這趟省了多少碳」從來沒人告訴你。沒被看見，就不會變成習慣。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6" y="5340096"/>
            <a:ext cx="11155680" cy="9144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5257800"/>
            <a:ext cx="11155680" cy="91440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50" b="1">
                <a:solidFill>
                  <a:srgbClr val="17231C"/>
                </a:solidFill>
                <a:latin typeface="微軟正黑體"/>
                <a:ea typeface="微軟正黑體"/>
              </a:rPr>
              <a:t>三個問題其實是同一個問題：App 沒有走進市民的日常生活。我們的答案，就從「出站的那一刻」開始。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我們的解法：出站那一刻，App 說一句剛好有用的話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1155680" cy="9144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91440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你搭捷運出站 → App 依「這一站、這個時間、這個天氣」給一個建議 → 照著做，拿捷運點 → 北捷看得到成效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688336"/>
            <a:ext cx="3520440" cy="3063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3520440" cy="3063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站點即場景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39" y="2926079"/>
            <a:ext cx="868680" cy="438912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0" y="2880360"/>
            <a:ext cx="868680" cy="438912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微軟正黑體"/>
                <a:ea typeface="微軟正黑體"/>
              </a:rPr>
              <a:t>市民視角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推薦不是亂槍打鳥，而是回到「此站、此時、此需求」：下雨就是傘、沒電就是充電、下班時段就是運動中心。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7" y="2688336"/>
            <a:ext cx="3520440" cy="3063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2606040"/>
            <a:ext cx="3520440" cy="3063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99431" y="288036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53712" y="283464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任務即誘因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85431" y="2926079"/>
            <a:ext cx="868680" cy="438912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39712" y="2880360"/>
            <a:ext cx="868680" cy="438912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微軟正黑體"/>
                <a:ea typeface="微軟正黑體"/>
              </a:rPr>
              <a:t>點數視角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361188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走一段路、騎一段 YouBike、借一把傘，都是任務。完成就有捷運點加成或換券——點數第一次有了明確的「賺法」和「花法」。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688336"/>
            <a:ext cx="3520440" cy="3063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47304" y="2606040"/>
            <a:ext cx="3520440" cy="30632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1624" y="288036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75904" y="283464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成效即產品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07624" y="2926079"/>
            <a:ext cx="868680" cy="438912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661904" y="2880360"/>
            <a:ext cx="868680" cy="438912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微軟正黑體"/>
                <a:ea typeface="微軟正黑體"/>
              </a:rPr>
              <a:t>北捷視角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3611880"/>
            <a:ext cx="3108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多少人看到、多少人走過去、多少張券被用掉——北捷全部看得到，還能把這些成效包裝成方案，賣給站內店家與合作場館。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961888"/>
            <a:ext cx="11155680" cy="594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5897880"/>
            <a:ext cx="11155680" cy="59436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這三句話，就是整份提案的骨架。後面每一頁，都是這三句話的展開。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這些服務，其實都已經在捷運站裡了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502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零新建成本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5486400" cy="4114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86400" cy="411480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FFD34D"/>
                </a:solidFill>
                <a:latin typeface="微軟正黑體"/>
                <a:ea typeface="微軟正黑體"/>
              </a:rPr>
              <a:t>市府已經在推的健康政策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FFFFFF"/>
                </a:solidFill>
                <a:latin typeface="微軟正黑體"/>
                <a:ea typeface="微軟正黑體"/>
              </a:rPr>
              <a:t>不用新談、不用新建，直接對接：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C8F3DF"/>
                </a:solidFill>
                <a:latin typeface="微軟正黑體"/>
                <a:ea typeface="微軟正黑體"/>
              </a:rPr>
              <a:t>· U-Sport：進運動中心運動就集點（體育局）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C8F3DF"/>
                </a:solidFill>
                <a:latin typeface="微軟正黑體"/>
                <a:ea typeface="微軟正黑體"/>
              </a:rPr>
              <a:t>· U-Walk：健康萬步走（衛生局）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0">
                <a:solidFill>
                  <a:srgbClr val="C8F3DF"/>
                </a:solidFill>
                <a:latin typeface="微軟正黑體"/>
                <a:ea typeface="微軟正黑體"/>
              </a:rPr>
              <a:t>· YouBike：前 30 分鐘補助的綠色接駁（交通局）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捷運點的加成，就綁在「搭捷運去運動、走路、騎車」上——這比單純折扣，更像一座城市在鼓勵你健康生活。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1463040"/>
            <a:ext cx="5394960" cy="4114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394960" cy="41148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60020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0B7A75"/>
                </a:solidFill>
                <a:latin typeface="微軟正黑體"/>
                <a:ea typeface="微軟正黑體"/>
              </a:rPr>
              <a:t>站裡已經在營業的店家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它們本來就付租金、也本來就需要人流：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· 下雨 → rainGo 共享傘（甲站借、乙站還）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· 沒電 → 旅電 / ChargeSPOT 行動電源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· 嘴饞 → 亞尼克 YTM 蛋糕機、全家、黑潮咖啡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50" b="0">
                <a:solidFill>
                  <a:srgbClr val="6E776F"/>
                </a:solidFill>
                <a:latin typeface="微軟正黑體"/>
                <a:ea typeface="微軟正黑體"/>
              </a:rPr>
              <a:t>· 空檔 → 小樹屋電話亭、快剪、快閃櫃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我們幫北捷做的，是把「租位子給它們」升級成「帶客人給它們」——這就是招商的新賣點。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" y="5788152"/>
            <a:ext cx="11155680" cy="685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5715000"/>
            <a:ext cx="11155680" cy="68580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微軟正黑體"/>
                <a:ea typeface="微軟正黑體"/>
              </a:rPr>
              <a:t>我們不新建任何東西——只是把已經存在的政策和店家，串在市民回家的那條路上。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一個下班的傍晚，App 只說了三句話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" y="1490472"/>
            <a:ext cx="74066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74066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2763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58191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17:52 · 出站，下雨了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「4 號出口就有 rainGo 共享傘，甲站借、乙站還。順手完成今天的共享任務。」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691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600" b="0">
                <a:solidFill>
                  <a:srgbClr val="17231C"/>
                </a:solidFill>
                <a:latin typeface="微軟正黑體"/>
                <a:ea typeface="微軟正黑體"/>
              </a:rPr>
              <a:t>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" y="2907792"/>
            <a:ext cx="74066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834640"/>
            <a:ext cx="74066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04495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99923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18:05 · 走在路上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「今天離萬步還差 2,000 步——走 8 分鐘到運動中心，這個月的減碳加成就解鎖了。」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1089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600" b="0">
                <a:solidFill>
                  <a:srgbClr val="17231C"/>
                </a:solidFill>
                <a:latin typeface="微軟正黑體"/>
                <a:ea typeface="微軟正黑體"/>
              </a:rPr>
              <a:t>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" y="4325112"/>
            <a:ext cx="740664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7406640" cy="12344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46227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416552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18:40 · 準備回家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3776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7231C"/>
                </a:solidFill>
                <a:latin typeface="微軟正黑體"/>
                <a:ea typeface="微軟正黑體"/>
              </a:rPr>
              <a:t>「騎 YouBike 接駁 10 分鐘可再加成；回程站內的亞尼克蛋糕機，捷運點可以折抵。」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5262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600" b="0">
                <a:solidFill>
                  <a:srgbClr val="17231C"/>
                </a:solidFill>
                <a:latin typeface="微軟正黑體"/>
                <a:ea typeface="微軟正黑體"/>
              </a:rPr>
              <a:t>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150876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0" y="1417320"/>
            <a:ext cx="3474720" cy="41605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1645920"/>
            <a:ext cx="2926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FFD34D"/>
                </a:solidFill>
                <a:latin typeface="微軟正黑體"/>
                <a:ea typeface="微軟正黑體"/>
              </a:rPr>
              <a:t>每一句話背後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用的都只是：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· 這一站（出站紀錄）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· 這個時間（下班時段）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· 這個天氣（正在下雨）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· 你自己勾選的偏好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微軟正黑體"/>
                <a:ea typeface="微軟正黑體"/>
              </a:rPr>
              <a:t>不追蹤行蹤、不看消費紀錄。提醒有用，是因為時機剛好。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870448"/>
            <a:ext cx="11155680" cy="5943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5806440"/>
            <a:ext cx="11155680" cy="59436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雨天借傘、轉乘空檔訂電話亭、週末親子行程——同一套邏輯，可以長出幾十種站點情境。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為什麼會每天想打開？因為有一座森林在等你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502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內容創新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093975"/>
            <a:ext cx="2551176" cy="256032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2551176" cy="256032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ory-modal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121408"/>
            <a:ext cx="2331720" cy="2344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349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開場故事：你的碳森林需要幫忙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1463039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54680" y="1380743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ne-hatch-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490472"/>
            <a:ext cx="1737360" cy="36032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960" y="5349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做健康任務 → 孵出夥伴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94376" y="1463039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2080" y="1380743"/>
            <a:ext cx="1956815" cy="3822191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ne-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490472"/>
            <a:ext cx="1737360" cy="36032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66360" y="5349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夥伴住進森林，週日回來收成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508760"/>
            <a:ext cx="4389120" cy="3977639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0" y="1417320"/>
            <a:ext cx="4389120" cy="3977639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627632"/>
            <a:ext cx="3794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50" b="1">
                <a:solidFill>
                  <a:srgbClr val="FFD34D"/>
                </a:solidFill>
                <a:latin typeface="微軟正黑體"/>
                <a:ea typeface="微軟正黑體"/>
              </a:rPr>
              <a:t>把減碳數字，變成養得大的東西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🌲 你省下的碳，會養大一座森林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每趟通勤的減碳量不再是數字，而是眼前長出來的樹。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🐣 做健康任務，會孵出小夥伴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騎 YouBike 孵出「輪輪」、走萬步孵出「步步」——還有各站限定的裝扮可以收集（靈感來自皮克敏）。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C8F3DF"/>
                </a:solidFill>
                <a:latin typeface="微軟正黑體"/>
                <a:ea typeface="微軟正黑體"/>
              </a:rPr>
              <a:t>🌱 每週日，回來收成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微軟正黑體"/>
                <a:ea typeface="微軟正黑體"/>
              </a:rPr>
              <a:t>收成種子、培育神木。一週一個小儀式，讓人固定回訪。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5605272"/>
            <a:ext cx="4389120" cy="685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5532120"/>
            <a:ext cx="4389120" cy="68580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點數給人「該用」的理由，森林給人「想回來」的理由。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這不是概念圖——現在手機掃了就能玩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545336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70992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" y="166420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① 開場故事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286000"/>
            <a:ext cx="13533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3 頁世界觀＋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選常用路線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545336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03704" y="1463040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59152" y="170992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13432" y="166420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② 出站結算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286000"/>
            <a:ext cx="13533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+15 點 / +0.23 kg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雙數字動畫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86784" y="1545336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04488" y="1463040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59936" y="170992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14216" y="166420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③ 任務孵蛋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2504" y="2286000"/>
            <a:ext cx="13533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健康任務充能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夥伴孵化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87568" y="1545336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05272" y="1463040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60720" y="170992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15000" y="166420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④ 森林收成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33288" y="2286000"/>
            <a:ext cx="13533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夥伴入住棲地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週日收成種子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8352" y="1545336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06056" y="1463040"/>
            <a:ext cx="1572768" cy="22860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70992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15783" y="1664208"/>
            <a:ext cx="1353312" cy="4572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⑤ 花點換券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2286000"/>
            <a:ext cx="13533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100 點換全家券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17231C"/>
                </a:solidFill>
                <a:latin typeface="微軟正黑體"/>
                <a:ea typeface="微軟正黑體"/>
              </a:rPr>
              <a:t>出示條碼核銷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81160" y="1554480"/>
            <a:ext cx="2514600" cy="2286000"/>
          </a:xfrm>
          <a:prstGeom prst="roundRect">
            <a:avLst>
              <a:gd name="adj" fmla="val 8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89720" y="1463040"/>
            <a:ext cx="2514600" cy="2286000"/>
          </a:xfrm>
          <a:prstGeom prst="roundRect">
            <a:avLst>
              <a:gd name="adj" fmla="val 8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627632"/>
            <a:ext cx="1920240" cy="19202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189720" y="34290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掃了就能玩（免安裝）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160520"/>
            <a:ext cx="11155680" cy="12344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4069080"/>
            <a:ext cx="11155680" cy="123444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4251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最後一步（評審高光）：切到「北捷營運後台」——剛才在乘客端做的每個動作，即時出現在後台事件流。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C8F3DF"/>
                </a:solidFill>
                <a:latin typeface="微軟正黑體"/>
                <a:ea typeface="微軟正黑體"/>
              </a:rPr>
              <a:t>乘客端玩到的每件事，北捷端都看得到成效——這就是「成效即產品」的實際畫面。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" y="5650992"/>
            <a:ext cx="11155680" cy="6858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5577840"/>
            <a:ext cx="11155680" cy="68580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3 分鐘可以走完全部動線：故事 → 出站 → 孵蛋 → 森林 → 換券 → 營運後台。備有離線版，現場網路斷了也能演示。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北捷為什麼要做？因為三方各拿到自己要的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499616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市民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在對的時機收到有用的提醒；點數有地方賺、有地方花；自己的減碳第一次被看見。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「原來我省了這麼多碳」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1499616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1417320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99431" y="169164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53712" y="164592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北捷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774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App 從查詢工具變成天天打開的生活入口；點數活起來；招商時多了「帶客人」這個新賣點。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9431" y="384048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53712" y="379476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「租位子」升級成「帶客人」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499616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7304" y="1417320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21624" y="169164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5904" y="1645920"/>
            <a:ext cx="1463040" cy="54864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17231C"/>
                </a:solidFill>
                <a:latin typeface="微軟正黑體"/>
                <a:ea typeface="微軟正黑體"/>
              </a:rPr>
              <a:t>店家與場館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237744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客人剛好在最需要的時刻走到門口；花的每一筆行銷費，都看得到多少人來、多少券被用掉。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384048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75904" y="379476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看得到成效，才願意付費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46320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4754880"/>
            <a:ext cx="11155680" cy="141732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FFD34D"/>
                </a:solidFill>
                <a:latin typeface="微軟正黑體"/>
                <a:ea typeface="微軟正黑體"/>
              </a:rPr>
              <a:t>北捷因此多了四種可以「賣」的方案：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微軟正黑體"/>
                <a:ea typeface="微軟正黑體"/>
              </a:rPr>
              <a:t>① 站內店家推播導客包　② 租賃空間導客包（電話亭/快閃櫃/快剪）　③ 健康任務共創包（與市府場館）　④ 悠遊付生活圈擴充包（第二階段）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錢，算得過來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50292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首年試算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520440" cy="15544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3520440" cy="155448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6E776F"/>
                </a:solidFill>
                <a:latin typeface="微軟正黑體"/>
                <a:ea typeface="微軟正黑體"/>
              </a:rPr>
              <a:t>合作方付的錢（收入）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800" b="1">
                <a:solidFill>
                  <a:srgbClr val="0B7A75"/>
                </a:solidFill>
                <a:latin typeface="Arial Black"/>
                <a:ea typeface="Arial Black"/>
              </a:rPr>
              <a:t>NT$ 2,270 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1" y="1508760"/>
            <a:ext cx="3520440" cy="15544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417320"/>
            <a:ext cx="3520440" cy="155448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6E776F"/>
                </a:solidFill>
                <a:latin typeface="微軟正黑體"/>
                <a:ea typeface="微軟正黑體"/>
              </a:rPr>
              <a:t>點數回饋＋維運（支出）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0116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800" b="1">
                <a:solidFill>
                  <a:srgbClr val="F5A524"/>
                </a:solidFill>
                <a:latin typeface="Arial Black"/>
                <a:ea typeface="Arial Black"/>
              </a:rPr>
              <a:t>NT$ 1,525 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1508760"/>
            <a:ext cx="3520440" cy="15544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7304" y="1417320"/>
            <a:ext cx="3520440" cy="155448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6002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6E776F"/>
                </a:solidFill>
                <a:latin typeface="微軟正黑體"/>
                <a:ea typeface="微軟正黑體"/>
              </a:rPr>
              <a:t>可支應營運餘額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0116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800" b="1">
                <a:solidFill>
                  <a:srgbClr val="38B86F"/>
                </a:solidFill>
                <a:latin typeface="Arial Black"/>
                <a:ea typeface="Arial Black"/>
              </a:rPr>
              <a:t>NT$ 745 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91840"/>
            <a:ext cx="7223760" cy="29260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200400"/>
            <a:ext cx="7223760" cy="292608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42900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50" b="1">
                <a:solidFill>
                  <a:srgbClr val="FFD34D"/>
                </a:solidFill>
                <a:latin typeface="微軟正黑體"/>
                <a:ea typeface="微軟正黑體"/>
              </a:rPr>
              <a:t>三個讓財務放心的設計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① 點數的錢主要不是北捷出：由受惠的店家與場館共同出資，北捷自己的補貼一年上限 600 萬。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② 每月 5 萬的合作包，賣出 8 個就損益兩平——這是很務實的門檻。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③ 任務有名額、券有張數、活動有預算上限——成本從第一天就是可控的。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C8F3DF"/>
                </a:solidFill>
                <a:latin typeface="微軟正黑體"/>
                <a:ea typeface="微軟正黑體"/>
              </a:rPr>
              <a:t>點數的會計處理依國際準則規劃（細節在附錄，歡迎備詢）；試算數字待北捷確認。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657600" cy="29260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01000" y="3200400"/>
            <a:ext cx="3657600" cy="292608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42900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0B7A75"/>
                </a:solidFill>
                <a:latin typeface="微軟正黑體"/>
                <a:ea typeface="微軟正黑體"/>
              </a:rPr>
              <a:t>收入從哪裡來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· 20 個店家合作包：1,200 萬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· 任務回饋池合作：270 萬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· 企業永續共創案：500 萬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· App 版位與租賃加值：300 萬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6E776F"/>
                </a:solidFill>
                <a:latin typeface="微軟正黑體"/>
                <a:ea typeface="微軟正黑體"/>
              </a:rPr>
              <a:t>合作包內容＝站點曝光＋推播＋任務設計＋核銷＋成效報表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每一筆減碳，都經得起查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6949440" cy="30632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949440" cy="306324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63093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微軟正黑體"/>
                <a:ea typeface="微軟正黑體"/>
              </a:rPr>
              <a:t>就像雲端發票：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100" b="1">
                <a:solidFill>
                  <a:srgbClr val="FFD34D"/>
                </a:solidFill>
                <a:latin typeface="微軟正黑體"/>
                <a:ea typeface="微軟正黑體"/>
              </a:rPr>
              <a:t>每一筆減碳與兌換，都有存證。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</a:rPr>
              <a:t>· 個人的減碳紀錄自動封存成「自己的資產」：換手機不會丟、拿去企業或學校做永續證明也查得到。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50" b="0">
                <a:solidFill>
                  <a:srgbClr val="C8F3DF"/>
                </a:solidFill>
                <a:latin typeface="微軟正黑體"/>
                <a:ea typeface="微軟正黑體"/>
              </a:rPr>
              <a:t>· 對北捷：點數不會重複發、減碳量不會灌水，外部稽核隨時查得動——這是全場唯一做到可查證的方案。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4736592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4663440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17231C"/>
                </a:solidFill>
                <a:latin typeface="Consolas"/>
                <a:ea typeface="Consolas"/>
              </a:rPr>
              <a:t>Human Truth. Machine Proof. — Numbers Protocol 官方技術支持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19" y="146304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26679" y="1371600"/>
            <a:ext cx="2743200" cy="4663440"/>
          </a:xfrm>
          <a:prstGeom prst="roundRect">
            <a:avLst>
              <a:gd name="adj" fmla="val 7000"/>
            </a:avLst>
          </a:prstGeom>
          <a:solidFill>
            <a:srgbClr val="FFFDF2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-voucher-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36192"/>
            <a:ext cx="1917878" cy="39776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26679" y="56235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17231C"/>
                </a:solidFill>
                <a:latin typeface="微軟正黑體"/>
                <a:ea typeface="微軟正黑體"/>
              </a:rPr>
              <a:t>兌換券內嵌「已存證」憑證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41848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577840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C8F3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7231C"/>
                </a:solidFill>
                <a:latin typeface="微軟正黑體"/>
                <a:ea typeface="微軟正黑體"/>
              </a:rPr>
              <a:t>隱私三原則：自己同意才開啟 · 只留統計不留個資 · 隨時可一鍵關閉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小步驗證，一站一站放大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636776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第一步 · 現在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51460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大家看到的原型：任務、推播、換券、營運後台，全流程可演示。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023359"/>
            <a:ext cx="3063240" cy="658368"/>
          </a:xfrm>
          <a:prstGeom prst="roundRect">
            <a:avLst>
              <a:gd name="adj" fmla="val 1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3063240" cy="658368"/>
          </a:xfrm>
          <a:prstGeom prst="roundRect">
            <a:avLst>
              <a:gd name="adj" fmla="val 15000"/>
            </a:avLst>
          </a:prstGeom>
          <a:solidFill>
            <a:srgbClr val="083C37"/>
          </a:solidFill>
          <a:ln w="2286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微軟正黑體"/>
                <a:ea typeface="微軟正黑體"/>
              </a:rPr>
              <a:t>驗收點：動線 3 分鐘走完，可離線演示。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8346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7" y="1636776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5112" y="155448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9431" y="182880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53712" y="178308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第二步 · 試辦半年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51460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選 2–3 個示範站點，串既有店家與市府健康政策，實測真實導客。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1" y="4023359"/>
            <a:ext cx="3063240" cy="658368"/>
          </a:xfrm>
          <a:prstGeom prst="roundRect">
            <a:avLst>
              <a:gd name="adj" fmla="val 1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53712" y="3977639"/>
            <a:ext cx="3063240" cy="658368"/>
          </a:xfrm>
          <a:prstGeom prst="roundRect">
            <a:avLst>
              <a:gd name="adj" fmla="val 15000"/>
            </a:avLst>
          </a:prstGeom>
          <a:solidFill>
            <a:srgbClr val="083C37"/>
          </a:solidFill>
          <a:ln w="2286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微軟正黑體"/>
                <a:ea typeface="微軟正黑體"/>
              </a:rPr>
              <a:t>驗收點：推播開啟率、到店導客數、券核銷率。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9831" y="28346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000" b="1">
                <a:solidFill>
                  <a:srgbClr val="17231C"/>
                </a:solidFill>
                <a:latin typeface="微軟正黑體"/>
                <a:ea typeface="微軟正黑體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636776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47304" y="155448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21624" y="182880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75904" y="1783080"/>
            <a:ext cx="2148840" cy="530352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第三步 · 擴大一年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51460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17231C"/>
                </a:solidFill>
                <a:latin typeface="微軟正黑體"/>
                <a:ea typeface="微軟正黑體"/>
              </a:rPr>
              <a:t>接入悠遊付生活圈與更多場館，開放企業永續合作。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21624" y="4023359"/>
            <a:ext cx="3063240" cy="658368"/>
          </a:xfrm>
          <a:prstGeom prst="roundRect">
            <a:avLst>
              <a:gd name="adj" fmla="val 1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375904" y="3977639"/>
            <a:ext cx="3063240" cy="658368"/>
          </a:xfrm>
          <a:prstGeom prst="roundRect">
            <a:avLst>
              <a:gd name="adj" fmla="val 15000"/>
            </a:avLst>
          </a:prstGeom>
          <a:solidFill>
            <a:srgbClr val="083C37"/>
          </a:solidFill>
          <a:ln w="2286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微軟正黑體"/>
                <a:ea typeface="微軟正黑體"/>
              </a:rPr>
              <a:t>驗收點：合作包續約率、非票務收入成長。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" y="5422392"/>
            <a:ext cx="11155680" cy="86868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5349240"/>
            <a:ext cx="11155680" cy="868680"/>
          </a:xfrm>
          <a:prstGeom prst="roundRect">
            <a:avLst>
              <a:gd name="adj" fmla="val 12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17231C"/>
                </a:solidFill>
                <a:latin typeface="微軟正黑體"/>
                <a:ea typeface="微軟正黑體"/>
              </a:rPr>
              <a:t>每一步都有明確驗收點——北捷不必一次下注，用示範站的真實數字決定要不要放大。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48056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FFD34D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17231C"/>
                </a:solidFill>
                <a:latin typeface="Arial Black"/>
                <a:ea typeface="Arial Black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84048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>
                <a:solidFill>
                  <a:srgbClr val="17231C"/>
                </a:solidFill>
                <a:latin typeface="微軟正黑體"/>
                <a:ea typeface="微軟正黑體"/>
              </a:rPr>
              <a:t>私部門技術 × 點數實戰 × 公部門政策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636776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嚴世紀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603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0B7A75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Numbers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專案總指揮。可信資料架構與存證機制——負責「每一筆減碳都經得起查」。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1636776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554480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鍾天傑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1" y="25603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9431" y="251460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17231C"/>
                </a:solidFill>
                <a:latin typeface="微軟正黑體"/>
                <a:ea typeface="微軟正黑體"/>
              </a:rPr>
              <a:t>LINE 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324612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點數經濟模型與遊戲化設計——負責「點數有地方賺、有地方花」。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636776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7304" y="1554480"/>
            <a:ext cx="3520440" cy="3017520"/>
          </a:xfrm>
          <a:prstGeom prst="roundRect">
            <a:avLst>
              <a:gd name="adj" fmla="val 12000"/>
            </a:avLst>
          </a:prstGeom>
          <a:solidFill>
            <a:srgbClr val="FFFDF2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1">
                <a:solidFill>
                  <a:srgbClr val="17231C"/>
                </a:solidFill>
                <a:latin typeface="微軟正黑體"/>
                <a:ea typeface="微軟正黑體"/>
              </a:rPr>
              <a:t>嚴世裕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67344" y="25603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21624" y="251460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38B86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</a:rPr>
              <a:t>台北市政府地政局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1624" y="324612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17231C"/>
                </a:solidFill>
                <a:latin typeface="微軟正黑體"/>
                <a:ea typeface="微軟正黑體"/>
              </a:rPr>
              <a:t>市府政策對接與行政合規——負責「健康政策串得上、審查過得了」。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074920"/>
            <a:ext cx="11155680" cy="12801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983480"/>
            <a:ext cx="11155680" cy="1280160"/>
          </a:xfrm>
          <a:prstGeom prst="roundRect">
            <a:avLst>
              <a:gd name="adj" fmla="val 12000"/>
            </a:avLst>
          </a:prstGeom>
          <a:solidFill>
            <a:srgbClr val="0B7A75"/>
          </a:solidFill>
          <a:ln w="381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50" b="1">
                <a:solidFill>
                  <a:srgbClr val="FFD34D"/>
                </a:solidFill>
                <a:latin typeface="微軟正黑體"/>
                <a:ea typeface="微軟正黑體"/>
              </a:rPr>
              <a:t>從碳客變捷客：讓 207 萬人的每一趟通勤，都被看見、被回饋、被信任。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C8F3DF"/>
                </a:solidFill>
                <a:latin typeface="微軟正黑體"/>
                <a:ea typeface="微軟正黑體"/>
              </a:rPr>
              <a:t>誠實標註：碳係數採北捷座談分享之參考值（104/75/29 g/人km），正式導入時以北捷確認版本為準。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2026 捷運盃黑客松決賽簡報 · 想領獎金的捷客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>
                <a:solidFill>
                  <a:srgbClr val="6E776F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附錄 A1 · 備詢用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財務細目與點數會計（IFRS 15）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" y="1353312"/>
            <a:ext cx="5486400" cy="49377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493776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>
                <a:solidFill>
                  <a:srgbClr val="0B7A75"/>
                </a:solidFill>
                <a:latin typeface="微軟正黑體"/>
                <a:ea typeface="微軟正黑體"/>
              </a:rPr>
              <a:t>收入（首年試算 NT$ 2,270 萬）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站點健康共享合作包：20 包/月 × 5 萬 × 12 = 1,200 萬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任務回饋池合作金流：37,500 次/月 × 5 點 × 1.2 元 × 12 = 270 萬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ESG／健康品牌共創：2 案 × 250 萬 = 500 萬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App / Go!Map / 租賃加值版位：300 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>
                <a:solidFill>
                  <a:srgbClr val="F5A524"/>
                </a:solidFill>
                <a:latin typeface="微軟正黑體"/>
                <a:ea typeface="微軟正黑體"/>
              </a:rPr>
              <a:t>支出（首年試算 NT$ 1,525 萬）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任務回饋履約 225 萬 · 北捷自有補貼上限 600 萬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資料治理與報表 200 萬 · 系統維運 300 萬 · 營運客服 200 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7231C"/>
                </a:solidFill>
                <a:latin typeface="微軟正黑體"/>
                <a:ea typeface="微軟正黑體"/>
              </a:rPr>
              <a:t>損益兩平：含共創收入約 8 個合作包/月；不含共創約 16 包/月。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792" y="1353312"/>
            <a:ext cx="5394960" cy="493776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394960" cy="493776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5087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>
                <a:solidFill>
                  <a:srgbClr val="0B7A75"/>
                </a:solidFill>
                <a:latin typeface="微軟正黑體"/>
                <a:ea typeface="微軟正黑體"/>
              </a:rPr>
              <a:t>點數會計處理（依 IFRS 15）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發點時列「合約負債（遞延收入）」，實際核銷或逾期失效時認列收入。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未兌換率（Breakage）參照 LINE POINTS、OPENPOINT 等歷史區間估算，避免虛增負債。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點數池由合作商家出資分攤 + 北捷年上限 600 萬補貼，形成可預算化成本結構。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· 研究底稿：LINE POINTS / OPENPOINT / 星巴克 / Marriott 之點數負債與認列實務。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6E776F"/>
                </a:solidFill>
                <a:latin typeface="微軟正黑體"/>
                <a:ea typeface="微軟正黑體"/>
              </a:rPr>
              <a:t>所有數字為提案試算；正式收入認列、點數負債與分潤拆分，需由北捷依合約與財會規範確認。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附錄（不在 7 分鐘簡報內，供評審提問時備詢）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附錄 A2 · 備詢用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四個示範場景（完整版：資料／回饋／成效）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" y="1353312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0876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39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A · 下班健康任務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出站推播：「離萬步差 2,000 步，步行 9 分鐘到運動中心，完成入場解鎖本月加成。」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資料：出站站點/時間/自選健康偏好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回饋：捷運點加成、場館券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成效：任務完成、步行里程、減碳量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353312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280160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50876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463039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B · 雨天共享接力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574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出站遇雨推播：「本站出口有 rainGo 共享傘，甲站借乙站還，累積共享任務。」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6974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資料：天氣/站點/共享傘供給狀態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回饋：共享任務章、抽獎、借傘券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成效：曝光、租借導流、減廢敘事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" y="3867912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02336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397764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C · 週末低碳生活圈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週末模式：「捷運到大安森林公園站 + YouBike 10 分鐘 + 站內亞尼克補給。」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12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資料：週末模式/興趣偏好/YouBike 站點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回饋：完成整段行程領加成或合作券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成效：路線完成率、點擊、換券核銷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867912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17920" y="3794760"/>
            <a:ext cx="5440680" cy="233172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402336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46520" y="3977640"/>
            <a:ext cx="2286000" cy="475488"/>
          </a:xfrm>
          <a:prstGeom prst="roundRect">
            <a:avLst>
              <a:gd name="adj" fmla="val 50000"/>
            </a:avLst>
          </a:prstGeom>
          <a:solidFill>
            <a:srgbClr val="C8F3DF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17231C"/>
                </a:solidFill>
                <a:latin typeface="微軟正黑體"/>
                <a:ea typeface="微軟正黑體"/>
              </a:rPr>
              <a:t>D · 轉乘空檔服務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5720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7231C"/>
                </a:solidFill>
                <a:latin typeface="微軟正黑體"/>
                <a:ea typeface="微軟正黑體"/>
              </a:rPr>
              <a:t>35 分鐘空檔：「中山站小樹屋電話亭可預約；快閃櫃可用捷運點換券；沿線快剪低等待。」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21208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資料：轉乘時段/站點租賃服務/偏好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回饋：時租券、試用券、導購任務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0">
                <a:solidFill>
                  <a:srgbClr val="6E776F"/>
                </a:solidFill>
                <a:latin typeface="微軟正黑體"/>
                <a:ea typeface="微軟正黑體"/>
              </a:rPr>
              <a:t>成效：預約、到店、核銷、租戶導客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附錄（不在 7 分鐘簡報內，供評審提問時備詢）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114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083C37"/>
          </a:solidFill>
          <a:ln w="2540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附錄 A3 · 備詢用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200" b="1">
                <a:solidFill>
                  <a:srgbClr val="17231C"/>
                </a:solidFill>
                <a:latin typeface="微軟正黑體"/>
                <a:ea typeface="微軟正黑體"/>
              </a:rPr>
              <a:t>點數機制：先設計行為，再決定發點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44168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417320"/>
            <a:ext cx="18196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① 觸發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1828800"/>
            <a:ext cx="1819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17231C"/>
                </a:solidFill>
                <a:latin typeface="微軟正黑體"/>
                <a:ea typeface="微軟正黑體"/>
              </a:rPr>
              <a:t>出站、靠近共享服務、選擇健康任務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4" y="1344168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79776" y="1280160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417320"/>
            <a:ext cx="18196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② 判斷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828800"/>
            <a:ext cx="1819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17231C"/>
                </a:solidFill>
                <a:latin typeface="微軟正黑體"/>
                <a:ea typeface="微軟正黑體"/>
              </a:rPr>
              <a:t>站點×時間×天氣×偏好選出推薦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344168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56632" y="1280160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417320"/>
            <a:ext cx="18196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③ 行動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1828800"/>
            <a:ext cx="1819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17231C"/>
                </a:solidFill>
                <a:latin typeface="微軟正黑體"/>
                <a:ea typeface="微軟正黑體"/>
              </a:rPr>
              <a:t>步行/騎車/借傘/預約站內服務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344168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33488" y="1280160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1417320"/>
            <a:ext cx="18196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④ 回饋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1828800"/>
            <a:ext cx="1819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17231C"/>
                </a:solidFill>
                <a:latin typeface="微軟正黑體"/>
                <a:ea typeface="微軟正黑體"/>
              </a:rPr>
              <a:t>點數加成、券、任務章（設預算上限）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74352" y="1344168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17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0344" y="1280160"/>
            <a:ext cx="2112264" cy="1371600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317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4936" y="1417320"/>
            <a:ext cx="18196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B7A75"/>
                </a:solidFill>
                <a:latin typeface="微軟正黑體"/>
                <a:ea typeface="微軟正黑體"/>
              </a:rPr>
              <a:t>⑤ 衡量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4936" y="1828800"/>
            <a:ext cx="1819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17231C"/>
                </a:solidFill>
                <a:latin typeface="微軟正黑體"/>
                <a:ea typeface="微軟正黑體"/>
              </a:rPr>
              <a:t>開啟率、核銷、導客 → 定價依據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26080"/>
            <a:ext cx="1481328" cy="5029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190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9992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任務類型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57400" y="2926080"/>
            <a:ext cx="3218688" cy="5029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190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30552" y="299923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使用者行為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49240" y="2926080"/>
            <a:ext cx="2121408" cy="5029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190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22392" y="2999232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回饋方式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800" y="2926080"/>
            <a:ext cx="2121408" cy="5029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190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2" y="2999232"/>
            <a:ext cx="2011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成本控制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60" y="2926080"/>
            <a:ext cx="1847088" cy="502920"/>
          </a:xfrm>
          <a:prstGeom prst="roundRect">
            <a:avLst>
              <a:gd name="adj" fmla="val 12000"/>
            </a:avLst>
          </a:prstGeom>
          <a:solidFill>
            <a:srgbClr val="083C37"/>
          </a:solidFill>
          <a:ln w="1905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11512" y="29992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資料治理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474720"/>
            <a:ext cx="148132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529584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17231C"/>
                </a:solidFill>
                <a:latin typeface="微軟正黑體"/>
                <a:ea typeface="微軟正黑體"/>
              </a:rPr>
              <a:t>健康減碳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57400" y="3474720"/>
            <a:ext cx="32186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30552" y="3529584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出站步行到 U-Sport 場館 / U-Walk 目標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49240" y="34747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22392" y="3529584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點數加成、場館券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43800" y="34747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16952" y="3529584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每月上限、活動名額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38360" y="3474720"/>
            <a:ext cx="18470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11512" y="3529584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健康資料明確授權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160520"/>
            <a:ext cx="148132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4215383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17231C"/>
                </a:solidFill>
                <a:latin typeface="微軟正黑體"/>
                <a:ea typeface="微軟正黑體"/>
              </a:rPr>
              <a:t>共享服務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057400" y="4160520"/>
            <a:ext cx="32186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30552" y="4215383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借還共享傘/行動電源、YouBike 接駁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49240" y="41605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22392" y="4215383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任務章、折抵券、抽獎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43800" y="41605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16952" y="4215383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以券量控制，廠商分攤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38360" y="4160520"/>
            <a:ext cx="18470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11512" y="4215383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事件紀錄，MVP 用 QR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4846320"/>
            <a:ext cx="148132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6072" y="4901183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17231C"/>
                </a:solidFill>
                <a:latin typeface="微軟正黑體"/>
                <a:ea typeface="微軟正黑體"/>
              </a:rPr>
              <a:t>站內補給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57400" y="4846320"/>
            <a:ext cx="32186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30552" y="4901183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亞尼克 YTM、全家、黑潮等站內消費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49240" y="48463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22392" y="4901183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點數折抵、換券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543800" y="48463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16952" y="4901183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商家購買導流方案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738360" y="4846320"/>
            <a:ext cx="18470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11512" y="4901183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只回傳核銷統計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532120"/>
            <a:ext cx="148132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6072" y="5586983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17231C"/>
                </a:solidFill>
                <a:latin typeface="微軟正黑體"/>
                <a:ea typeface="微軟正黑體"/>
              </a:rPr>
              <a:t>租賃導客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057400" y="5532120"/>
            <a:ext cx="32186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130552" y="5586983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預約電話亭、快剪、快閃櫃、取貨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49240" y="55321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22392" y="5586983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會員券、點數兌換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543800" y="5532120"/>
            <a:ext cx="212140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16952" y="5586983"/>
            <a:ext cx="20116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廠商購買導客包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738360" y="5532120"/>
            <a:ext cx="1847088" cy="621792"/>
          </a:xfrm>
          <a:prstGeom prst="roundRect">
            <a:avLst>
              <a:gd name="adj" fmla="val 12000"/>
            </a:avLst>
          </a:prstGeom>
          <a:solidFill>
            <a:srgbClr val="FFF7DF"/>
          </a:solidFill>
          <a:ln w="15240">
            <a:solidFill>
              <a:srgbClr val="1723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811512" y="5586983"/>
            <a:ext cx="1737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17231C"/>
                </a:solidFill>
                <a:latin typeface="微軟正黑體"/>
                <a:ea typeface="微軟正黑體"/>
              </a:rPr>
              <a:t>素材經北捷審查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6E776F"/>
                </a:solidFill>
                <a:latin typeface="微軟正黑體"/>
                <a:ea typeface="微軟正黑體"/>
              </a:rPr>
              <a:t>從碳客變捷客 · 附錄（不在 7 分鐘簡報內，供評審提問時備詢）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