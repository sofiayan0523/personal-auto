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612648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8F3DF"/>
                </a:solidFill>
                <a:latin typeface="微軟正黑體"/>
                <a:ea typeface="微軟正黑體"/>
              </a:rPr>
              <a:t>2026 捷運盃黑客松 · 決賽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微軟正黑體"/>
                <a:ea typeface="微軟正黑體"/>
              </a:rPr>
              <a:t>從碳客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>
                <a:solidFill>
                  <a:srgbClr val="FFD34D"/>
                </a:solidFill>
                <a:latin typeface="微軟正黑體"/>
                <a:ea typeface="微軟正黑體"/>
              </a:rPr>
              <a:t>變捷客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233672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10000">
            <a:off x="1005840" y="4160520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團隊：想領獎金的捷客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整合於台北捷運 Go App 的 AI 智慧服務模組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7" y="1161288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05156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657600" cy="24479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9560" y="402335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1480000">
            <a:off x="7863840" y="397763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決賽 10 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02335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90000">
            <a:off x="9555480" y="397763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互動 Demo 可玩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6E776F"/>
                </a:solidFill>
                <a:latin typeface="微軟正黑體"/>
                <a:ea typeface="微軟正黑體"/>
              </a:rPr>
              <a:t>線上互動原型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Consolas"/>
                <a:ea typeface="Consolas"/>
              </a:rPr>
              <a:t>from-carbon-metro-vote.pages.dev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點數沒被用起來，減碳沒被感覺到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臺北捷運 114 年平均日運量 207.4 萬人次 — 每一趟都是尚未被資產化的減碳貢獻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C8F3DF"/>
                </a:solidFill>
                <a:latin typeface="微軟正黑體"/>
                <a:ea typeface="微軟正黑體"/>
              </a:rPr>
              <a:t>資料來源：臺北捷運公司公開營運統計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點數閒置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使用者須自行開地圖找店、缺乏主動推薦，大量捷運點閒置或逾期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1" y="301752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297180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推播無感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Go App 資訊量大、banner 易被滑過，個人化程度不足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301752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297180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減碳無感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大家知道搭捷運環保，但「我今天減了多少碳」從未被看見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202936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北捷視角：本業營運壓力大，需要「能變現的會員經營」與「非票務收入」工具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10 強都在發點數，只有我們做可驗證的減碳資產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競爭定位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11155680" cy="4160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4160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776F"/>
                </a:solidFill>
                <a:latin typeface="微軟正黑體"/>
                <a:ea typeface="微軟正黑體"/>
              </a:rPr>
              <a:t>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776F"/>
                </a:solidFill>
                <a:latin typeface="微軟正黑體"/>
                <a:ea typeface="微軟正黑體"/>
              </a:rPr>
              <a:t>其他隊伍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從碳客變捷客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7231C"/>
                </a:solidFill>
                <a:latin typeface="微軟正黑體"/>
                <a:ea typeface="微軟正黑體"/>
              </a:rPr>
              <a:t>點數賺花閉環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7 / 8 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659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✓ 有，且與減碳雙向聯動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7231C"/>
                </a:solidFill>
                <a:latin typeface="微軟正黑體"/>
                <a:ea typeface="微軟正黑體"/>
              </a:rPr>
              <a:t>店家導客 O2O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5420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7 / 8 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542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✓ 有，串北捷既有招商業務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1810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7231C"/>
                </a:solidFill>
                <a:latin typeface="微軟正黑體"/>
                <a:ea typeface="微軟正黑體"/>
              </a:rPr>
              <a:t>遊戲化任務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1181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6 / 8 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11810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17231C"/>
                </a:solidFill>
                <a:latin typeface="微軟正黑體"/>
                <a:ea typeface="微軟正黑體"/>
              </a:rPr>
              <a:t>✓ 有，乘數 Level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減碳量化為核心機制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941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0 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69417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6A3D"/>
                </a:solidFill>
                <a:latin typeface="微軟正黑體"/>
                <a:ea typeface="微軟正黑體"/>
              </a:rPr>
              <a:t>★ 獨家：104/75/29 係數 × 點數乘數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702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資料可稽核（provenance）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2702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0 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2702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6A3D"/>
                </a:solidFill>
                <a:latin typeface="微軟正黑體"/>
                <a:ea typeface="微軟正黑體"/>
              </a:rPr>
              <a:t>★ 獨家：Numbers Protocol 資料指紋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IFRS 15 點數負債論述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846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6E776F"/>
                </a:solidFill>
                <a:latin typeface="微軟正黑體"/>
                <a:ea typeface="微軟正黑體"/>
              </a:rPr>
              <a:t>0 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846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FF6A3D"/>
                </a:solidFill>
                <a:latin typeface="微軟正黑體"/>
                <a:ea typeface="微軟正黑體"/>
              </a:rPr>
              <a:t>★ 獨家：遞延收入 + breakage 估算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" y="5788152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715000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紅海不打：我們的戰場是「數據可信 × 全串既有系統 × 財務可落地」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核心機制：捷運點 × 減碳量 雙向聯動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48640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83464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C8F3DF"/>
                </a:solidFill>
                <a:latin typeface="微軟正黑體"/>
                <a:ea typeface="微軟正黑體"/>
              </a:rPr>
              <a:t>碳節省公式（係數可配置）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(104 − 75) × 里程 = 每公里省 29 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小客車 104 g／人km － 捷運 75 g／人km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· 北捷提供之參考值，正式導入前由北捷確認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· 不另立「綠點」：加成直接作用於捷運點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463040"/>
            <a:ext cx="539496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9496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月度減碳乘數 Level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19456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14884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7231C"/>
                </a:solidFill>
                <a:latin typeface="微軟正黑體"/>
                <a:ea typeface="微軟正黑體"/>
              </a:rPr>
              <a:t>1.0×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0–5 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214884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7231C"/>
                </a:solidFill>
                <a:latin typeface="微軟正黑體"/>
                <a:ea typeface="微軟正黑體"/>
              </a:rPr>
              <a:t>1.2×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5–10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219456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66960" y="2148840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7231C"/>
                </a:solidFill>
                <a:latin typeface="微軟正黑體"/>
                <a:ea typeface="微軟正黑體"/>
              </a:rPr>
              <a:t>1.5×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10 kg+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減碳越多 → 賺點乘數越高 → 更想搭捷運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1155680" cy="1691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526280"/>
            <a:ext cx="11155680" cy="1691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B7A75"/>
                </a:solidFill>
                <a:latin typeface="微軟正黑體"/>
                <a:ea typeface="微軟正黑體"/>
              </a:rPr>
              <a:t>完整閉環（Demo 可實際操作）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30352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25780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搭捷運 賺點+減碳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25780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1527" y="530352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35808" y="525780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情境任務 乘數加成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25780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94376" y="530352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48656" y="525780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出站推播 導客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525780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07224" y="530352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61504" y="525780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花點換券 核銷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5257800"/>
            <a:ext cx="36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20072" y="530352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74352" y="5257800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減碳證明 可稽核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使用者旅程（決賽 Demo 動線）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69164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1 進站前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774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3 題 opt-in 偏好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onboarding，不假設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北捷已掌握消費偏好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4991" y="14630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79" y="17373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69164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2 通勤中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完成通勤：+18 點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+0.23 kg 減碳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雙數字同時入帳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3" y="155448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4630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1" y="17373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1" y="169164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3 出站時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774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出站推播：3 分鐘內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2 家可用捷運點店家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雨天自動推借傘任務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55448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46304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36024" y="17373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0304" y="169164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4 生活圈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3774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App 換券 → 條碼核銷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借傘/補電/YTM/運動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每筆附資料指紋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37759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第 5 步（評審亮點）：切到北捷 Dashboard — 剛才每個動作即時滾入 LIVE 事件流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乘客端與營運端同一套資料聯動，閉環親眼可見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健康共享生活圈：串市府既有系統，零新建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U-Sport 運動中心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453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入場運動 +25 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7276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52704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臺北市既有系統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22576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258568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U-Walk 萬步挑戰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865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出站補 2,000 步 +20 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14016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368296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臺北市既有系統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63824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99816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YouBike 低碳接駁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27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捷運後 1–2 km 接駁 +12 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255264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209544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既有共享運具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05072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941064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raingo 共享傘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69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雨天出站借傘 +5 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096512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50792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北捷站內既有廠商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46320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782312"/>
            <a:ext cx="7315200" cy="7132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10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旅電 ChargeSPOT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9103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共享行動電源 +5 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93776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489204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7231C"/>
                </a:solidFill>
                <a:latin typeface="微軟正黑體"/>
                <a:ea typeface="微軟正黑體"/>
              </a:rPr>
              <a:t>北捷站內既有廠商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19" y="150876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83879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6916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為什麼可行性滿分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每個任務都對應「已在營運」的系統或廠商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北捷不需新建任何基礎設施，只需 API 對接與活動規則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健康 × 減碳 × 點數：市府政策三箭同發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站內招商加值：把場站商業開發變成新營收線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7231C"/>
                </a:solidFill>
                <a:latin typeface="微軟正黑體"/>
                <a:ea typeface="微軟正黑體"/>
              </a:rPr>
              <a:t>北捷站內既存租賃點位（皆為公開可查的真實案例），全部可被 Go App 推播、Go!Map 標記、捷運點券導客：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79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亞尼克 YTM 蛋糕機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1" y="2011679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4991" y="196596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raingo 共享傘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2011679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96596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旅電 / ChargeSPOT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2011679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89136" y="196596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Happ. 小樹屋電話亭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892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TRICENT 試香機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1" y="278892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1" y="274320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Yo-Kai 拉麵機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3" y="278892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7064" y="274320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客製悠遊卡機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78892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2743200"/>
            <a:ext cx="2606040" cy="59436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快剪 / 快閃櫃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40479"/>
            <a:ext cx="11155680" cy="23317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749039"/>
            <a:ext cx="11155680" cy="23317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50208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對北捷的三重價值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7231C"/>
                </a:solidFill>
                <a:latin typeface="微軟正黑體"/>
                <a:ea typeface="微軟正黑體"/>
              </a:rPr>
              <a:t>1) 招商加值：租賃點位附帶「App 導客能力」出租，點位單價與續約率提升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7231C"/>
                </a:solidFill>
                <a:latin typeface="微軟正黑體"/>
                <a:ea typeface="微軟正黑體"/>
              </a:rPr>
              <a:t>2) 精準變現：某站 × 某時段 × 某偏好的推播，廣告與行銷方案賣的是成效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7231C"/>
                </a:solidFill>
                <a:latin typeface="微軟正黑體"/>
                <a:ea typeface="微軟正黑體"/>
              </a:rPr>
              <a:t>3) 邊界清楚：租賃廠商自有行銷與第三方廣告仍依北捷既有審查規範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雙端 LIVE Demo：乘客端 × 北捷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n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536192"/>
            <a:ext cx="1939991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乘客端：賺點＋減碳雙入帳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on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1536192"/>
            <a:ext cx="1939991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Dashboard：LIVE 事件流即時聯動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6304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137160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0020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D34D"/>
                </a:solidFill>
                <a:latin typeface="微軟正黑體"/>
                <a:ea typeface="微軟正黑體"/>
              </a:rPr>
              <a:t>現場就能玩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純前端原型・免安裝免註冊・可完全離線執行（附離線備援包）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3136392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306324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-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3172968"/>
            <a:ext cx="1609344" cy="1609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18320" y="32004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掃碼體驗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Consolas"/>
                <a:ea typeface="Consolas"/>
              </a:rPr>
              <a:t>from-carbon-metro-vote.pages.dev/demo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2578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Demo 亮點：完成借傘任務 → 切 Dashboard → 觸及/導客/減碳數字即時跳動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全場唯一：Numbers 可稽核資料層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694944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949440" cy="30175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北捷發出去的每一點、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>
                <a:solidFill>
                  <a:srgbClr val="FFD34D"/>
                </a:solidFill>
                <a:latin typeface="微軟正黑體"/>
                <a:ea typeface="微軟正黑體"/>
              </a:rPr>
              <a:t>每一克減碳，都經得起審計。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C8F3DF"/>
                </a:solidFill>
                <a:latin typeface="微軟正黑體"/>
                <a:ea typeface="微軟正黑體"/>
              </a:rPr>
              <a:t>減碳統計與核銷紀錄以去識別化方式產生資料指紋（provenance），寫入不可竄改的可驗證紀錄 — ESG 揭露與金融綠色回饋可直接引用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4690872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461772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Consolas"/>
                <a:ea typeface="Consolas"/>
              </a:rPr>
              <a:t>Human Truth. Machine Proof. — Numbers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19" y="146304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37160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-vou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36192"/>
            <a:ext cx="1854716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核銷券附「資料指紋已封存」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41848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57784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C8F3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隱私底線：opt-in、僅去識別化月度統計值、不儲存起訖站與身分、可隨時關閉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可行性對照：不是另一支 App，是 Go App 的加值模組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可行性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11155680" cy="4206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4206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776F"/>
                </a:solidFill>
                <a:latin typeface="微軟正黑體"/>
                <a:ea typeface="微軟正黑體"/>
              </a:rPr>
              <a:t>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361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776F"/>
                </a:solidFill>
                <a:latin typeface="微軟正黑體"/>
                <a:ea typeface="微軟正黑體"/>
              </a:rPr>
              <a:t>依賴的既有系統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776F"/>
                </a:solidFill>
                <a:latin typeface="微軟正黑體"/>
                <a:ea typeface="微軟正黑體"/>
              </a:rPr>
              <a:t>導入需求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385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碳計算與乘數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385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票務進出站紀錄 + 官方係數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385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純演算法，零新硬體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出站推播導客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5420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Go App 推播 + Go!Map 商家資料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輕量 API，不動核心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455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花點換券核銷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455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既有捷運點 + App 券 + 掃碼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45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不假設 POS 全串接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健康共享任務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490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U-Sport / U-Walk / YouBike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市府既有系統對接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525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站內補給任務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35254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raingo / 旅電 / YTM / 小樹屋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3525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既存租賃廠商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56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可稽核資料層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956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Numbers Protocol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56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微軟正黑體"/>
                <a:ea typeface="微軟正黑體"/>
              </a:rPr>
              <a:t>僅上傳去識別統計值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" y="5788152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715000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微軟正黑體"/>
                <a:ea typeface="微軟正黑體"/>
              </a:rPr>
              <a:t>每一項功能都有「已在營運」的依賴系統 — 北捷核准後即可開工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首年財務試算 + 點數會計（全場唯一）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待北捷確認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合作金流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7A75"/>
                </a:solidFill>
                <a:latin typeface="Arial Black"/>
                <a:ea typeface="Arial Black"/>
              </a:rPr>
              <a:t>NT$ 2,270 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0876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點數與營運支出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5A524"/>
                </a:solidFill>
                <a:latin typeface="Arial Black"/>
                <a:ea typeface="Arial Black"/>
              </a:rPr>
              <a:t>NT$ 1,525 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50876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141732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可支應營運餘額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1031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38B86F"/>
                </a:solidFill>
                <a:latin typeface="Arial Black"/>
                <a:ea typeface="Arial Black"/>
              </a:rPr>
              <a:t>NT$ 745 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7223760" cy="2560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520440"/>
            <a:ext cx="7223760" cy="25603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IFRS 15 點數負債處理（評審 QA 直球回答）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· 發點時列遞延收入（合約負債），核銷或到期才認列收入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· Breakage（未兌換率）依歷史核銷率估計，降低負債高估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</a:rPr>
              <a:t>· 商家/合作方分攤點數成本 → 北捷點數負債壓力可控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C8F3DF"/>
                </a:solidFill>
                <a:latin typeface="微軟正黑體"/>
                <a:ea typeface="微軟正黑體"/>
              </a:rPr>
              <a:t>· 研究底稿：OPENPOINT / LINE POINTS / 星巴克 / Marriott 案例分析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611880"/>
            <a:ext cx="3657600" cy="2560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3520440"/>
            <a:ext cx="3657600" cy="25603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749039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金流來源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商家行銷方案與導客抽成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站內租賃點位加值（招商）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健康共享合作案（市府）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ESG 數據服務（後期）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三階段導入藍圖與 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決賽階段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317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可操作概念原型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+ 北捷 Dashboard 展示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（不涉及深度串接）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8600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087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64592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試辦階段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3317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2–3 個站點生活圈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串既有捷運點商家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出站推播 + 換券核銷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28600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087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1732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164592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擴大階段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3317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常客優惠轉點活化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場館/觀光/共享運具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悠遊付商店網絡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06240"/>
            <a:ext cx="11155680" cy="20116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114800"/>
            <a:ext cx="11155680" cy="201168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1596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D34D"/>
                </a:solidFill>
                <a:latin typeface="微軟正黑體"/>
                <a:ea typeface="微軟正黑體"/>
              </a:rPr>
              <a:t>成效 KPI（試辦階段即可量測）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推播開啟率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79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券核銷率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3484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點數消耗率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估算導客量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月減碳量 (kg)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4937759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0" y="4892040"/>
            <a:ext cx="1645920" cy="685800"/>
          </a:xfrm>
          <a:prstGeom prst="roundRect">
            <a:avLst>
              <a:gd name="adj" fmla="val 50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每導客成本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金融 ESG 聯名列為後期（法規與談判週期長）；團隊技術權利義務於試辦階段另行議定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誠實標註：哪些是真的、哪些待確認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HONESTY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38B86F"/>
                </a:solidFill>
                <a:latin typeface="微軟正黑體"/>
                <a:ea typeface="微軟正黑體"/>
              </a:rPr>
              <a:t>✓ 有依據的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北捷 114 年日運量 207.4 萬（官方統計）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站內租賃廠商皆為公開可查的真實案例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U-Sport / U-Walk / YouBike 皆為既有系統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推播時段設計參考臺北市資料大平臺「各站分時進出量」開放資料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原型為可操作前端，決賽現場可離線執行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5A524"/>
                </a:solidFill>
                <a:latin typeface="微軟正黑體"/>
                <a:ea typeface="微軟正黑體"/>
              </a:rPr>
              <a:t>△ 待北捷確認的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碳係數 104 / 75 / 29 g／人km（口述參考值）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月活會員數（口述 20–30 萬）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首年財務試算之合作金流假設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Demo 內點數 / 商家 / 儀表板數值為模擬情境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· 常客優惠轉捷運點之政策時程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5998464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94360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風險透明化是可行性的一部分 — 我們把假設攤在桌上，導入時逐項替換為正式值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團隊：懂技術、懂用戶、也懂政府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Numbers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專案總指揮、系統架構、AI 推薦引擎、碳數據可信度驗證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鍾天傑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1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1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LINE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點數經濟模型、加成機制設計、前端 UX 與社群激勵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21624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38B86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台北市政府地政局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ESG 政策對接、開放資料整合、合規審查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54879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6460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私部門技術力 × 點數經濟實戰 × 公部門政策力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技術支持：Omni Edge（AI 智能體平台）· Numbers Protocol（Provenance infrastructure for humans &amp; AI）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 · 想領獎金的捷客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749808"/>
            <a:ext cx="1115568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40080"/>
            <a:ext cx="11155680" cy="22860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F3DF"/>
                </a:solidFill>
                <a:latin typeface="微軟正黑體"/>
                <a:ea typeface="微軟正黑體"/>
              </a:rPr>
              <a:t>從碳客變捷客 — 讓每一趟捷運，都成為省錢與減碳的證明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3273552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33649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使用者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822191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省錢、減碳有感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3273552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4991" y="320040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3649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商家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822191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精準導客、成效可量化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3273552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7064" y="320040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3649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北捷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3822191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點數活化、非票務收入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3273552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320040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33649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城市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822191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可稽核的減碳貢獻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4791456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818888"/>
            <a:ext cx="1609344" cy="1609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514600" y="489204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互動原型（免安裝・可離線）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0B7A75"/>
                </a:solidFill>
                <a:latin typeface="Consolas"/>
                <a:ea typeface="Consolas"/>
              </a:rPr>
              <a:t>https://from-carbon-metro-vote.pages.dev/demo/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76F"/>
                </a:solidFill>
                <a:latin typeface="微軟正黑體"/>
                <a:ea typeface="微軟正黑體"/>
              </a:rPr>
              <a:t>線上人氣票選進行中：台北捷運Go App → 黑客松人氣票選 → 投給【從碳客變捷客】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0536" y="4974336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 rot="21510000">
            <a:off x="8778240" y="489204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黑捷客出發，創意進站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7231C"/>
                </a:solidFill>
                <a:latin typeface="微軟正黑體"/>
                <a:ea typeface="微軟正黑體"/>
              </a:rPr>
              <a:t>決賽我們全力到站！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附錄：評審 QA 備彈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" y="1426464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0B7A75"/>
                </a:solidFill>
                <a:latin typeface="微軟正黑體"/>
                <a:ea typeface="微軟正黑體"/>
              </a:rPr>
              <a:t>Q：點數成本誰出？和「商家出資點數池」的隊伍差在哪？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A：我們對接北捷「既有招商業務」的加值：商家買的是行銷方案與導客成效，點數是方案內誘因；不需說服商家接受全新點數概念，北捷點數負債由分攤機制控管。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2724912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670048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0B7A75"/>
                </a:solidFill>
                <a:latin typeface="微軟正黑體"/>
                <a:ea typeface="微軟正黑體"/>
              </a:rPr>
              <a:t>Q：碳係數怎麼驗證？被挑戰數字不準怎麼辦？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A：係數為可配置參數（Demo 即可調），採北捷口述參考值並誠實標註；正式導入即替換為北捷/環境部正式係數，架構不變。每筆減碳紀錄附 Numbers 資料指紋，第三方可稽核。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4023359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68496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9935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0B7A75"/>
                </a:solidFill>
                <a:latin typeface="微軟正黑體"/>
                <a:ea typeface="微軟正黑體"/>
              </a:rPr>
              <a:t>Q：點數會計怎麼處理？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43983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A：IFRS 15：發點列遞延收入（合約負債），核銷/到期認列；breakage 依歷史核銷率估計。已完成 OPENPOINT、LINE POINTS、星巴克、Marriott 等案例研究底稿。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" y="5321807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5266944"/>
            <a:ext cx="11155680" cy="1170432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58383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0B7A75"/>
                </a:solidFill>
                <a:latin typeface="微軟正黑體"/>
                <a:ea typeface="微軟正黑體"/>
              </a:rPr>
              <a:t>Q：和 Go App 的整合成本？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42431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A：定位為 Go App 加值模組：輕量 API + 推播 + 既有 Go!Map 資料，不動售票核心、不需新硬體；試辦僅需 2–3 站生活圈與既有捷運點商家。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