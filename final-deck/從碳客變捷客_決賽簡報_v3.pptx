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2648" y="612648"/>
            <a:ext cx="6766560" cy="5852160"/>
          </a:xfrm>
          <a:prstGeom prst="roundRect">
            <a:avLst>
              <a:gd name="adj" fmla="val 6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6766560" cy="5852160"/>
          </a:xfrm>
          <a:prstGeom prst="roundRect">
            <a:avLst>
              <a:gd name="adj" fmla="val 6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C8F3DF"/>
                </a:solidFill>
                <a:latin typeface="微軟正黑體"/>
                <a:ea typeface="微軟正黑體"/>
              </a:rPr>
              <a:t>2026 捷運盃黑客松 · 決賽提案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0" b="1">
                <a:solidFill>
                  <a:srgbClr val="FFFFFF"/>
                </a:solidFill>
                <a:latin typeface="微軟正黑體"/>
                <a:ea typeface="微軟正黑體"/>
              </a:rPr>
              <a:t>從碳客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600" b="1">
                <a:solidFill>
                  <a:srgbClr val="FFD34D"/>
                </a:solidFill>
                <a:latin typeface="微軟正黑體"/>
                <a:ea typeface="微軟正黑體"/>
              </a:rPr>
              <a:t>變捷客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" y="4233672"/>
            <a:ext cx="5394960" cy="713232"/>
          </a:xfrm>
          <a:prstGeom prst="roundRect">
            <a:avLst>
              <a:gd name="adj" fmla="val 3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21510000">
            <a:off x="1005840" y="4160520"/>
            <a:ext cx="5394960" cy="713232"/>
          </a:xfrm>
          <a:prstGeom prst="roundRect">
            <a:avLst>
              <a:gd name="adj" fmla="val 30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7231C"/>
                </a:solidFill>
                <a:latin typeface="微軟正黑體"/>
                <a:ea typeface="微軟正黑體"/>
              </a:rPr>
              <a:t>每一次通勤，都是可驗證的減碳資產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團隊：想領獎金的捷客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C8F3DF"/>
                </a:solidFill>
                <a:latin typeface="微軟正黑體"/>
                <a:ea typeface="微軟正黑體"/>
              </a:rPr>
              <a:t>捷運健康共享生活圈：串起市府健康政策與站內招商的永續商模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44967" y="1161288"/>
            <a:ext cx="4023360" cy="3200400"/>
          </a:xfrm>
          <a:prstGeom prst="roundRect">
            <a:avLst>
              <a:gd name="adj" fmla="val 8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35240" y="1051560"/>
            <a:ext cx="4023360" cy="3200400"/>
          </a:xfrm>
          <a:prstGeom prst="roundRect">
            <a:avLst>
              <a:gd name="adj" fmla="val 8000"/>
            </a:avLst>
          </a:prstGeom>
          <a:solidFill>
            <a:srgbClr val="FFFDF2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280160"/>
            <a:ext cx="3657600" cy="24479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909560" y="4023359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 rot="21480000">
            <a:off x="7863840" y="3977639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決賽 10 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4023359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90000">
            <a:off x="9555480" y="3977639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互動 Demo 可玩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8920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>
                <a:solidFill>
                  <a:srgbClr val="6E776F"/>
                </a:solidFill>
                <a:latin typeface="微軟正黑體"/>
                <a:ea typeface="微軟正黑體"/>
              </a:rPr>
              <a:t>線上互動原型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Consolas"/>
                <a:ea typeface="Consolas"/>
              </a:rPr>
              <a:t>from-carbon-metro-vote.pages.dev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點數沒被用起來，減碳沒被感覺到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微軟正黑體"/>
                <a:ea typeface="微軟正黑體"/>
              </a:rPr>
              <a:t>臺北捷運 114 年平均日運量 207.4 萬人次 — 每一趟都是尚未被資產化的減碳貢獻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C8F3DF"/>
                </a:solidFill>
                <a:latin typeface="微軟正黑體"/>
                <a:ea typeface="微軟正黑體"/>
              </a:rPr>
              <a:t>資料來源：臺北捷運公司公開營運統計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825496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74320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30175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Go App 資訊化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現行 App 偏向靜態資訊查詢與單純票務服務，缺乏主動情境推播，市民日常缺乏高頻開啟的強烈動機與樂趣。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2825496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274320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9431" y="30175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53712" y="297180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點數閒置過期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657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使用者不知、亦缺乏誘因去消耗點數。捷運點大量閒置或過期逾期，導致北捷也承擔點數負債與高過期（Breakage）風險。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825496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7304" y="274320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30175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75904" y="297180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減碳貢獻無感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3657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市民知道搭乘捷運環保，但「我今天這趟省了多少碳」從未被具體量化或看見，缺乏情感連結，減碳淪為抽象概念。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5202936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5120640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北捷視角：營運壓力大，亟需「提高 App 會員黏著度」並對接既存租賃/健康商機，活化非票務招商加值！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提案概念：捷運健康共享生活圈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FFD34D"/>
                </a:solidFill>
                <a:latin typeface="微軟正黑體"/>
                <a:ea typeface="微軟正黑體"/>
              </a:rPr>
              <a:t>市政健康共享生活圈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FFFFF"/>
                </a:solidFill>
                <a:latin typeface="微軟正黑體"/>
                <a:ea typeface="微軟正黑體"/>
              </a:rPr>
              <a:t>以「捷運點」為核心，直接對接台北市既存健康政策：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C8F3DF"/>
                </a:solidFill>
                <a:latin typeface="微軟正黑體"/>
                <a:ea typeface="微軟正黑體"/>
              </a:rPr>
              <a:t>· U-Sport (體育局運動中心) 入場 → 累積減碳與健康進度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C8F3DF"/>
                </a:solidFill>
                <a:latin typeface="微軟正黑體"/>
                <a:ea typeface="微軟正黑體"/>
              </a:rPr>
              <a:t>· U-Walk (健康局萬步挑戰) 步行 → 出站沿線完成任務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C8F3DF"/>
                </a:solidFill>
                <a:latin typeface="微軟正黑體"/>
                <a:ea typeface="微軟正黑體"/>
              </a:rPr>
              <a:t>· YouBike (交通局接駁) 騎行 → 省碳直接加成賺點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軟正黑體"/>
                <a:ea typeface="微軟正黑體"/>
              </a:rPr>
              <a:t>★ 零新建成本：100% 串接市府既存成熟系統，免發空包彈，點數具有真實健康行為支撐！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1463040"/>
            <a:ext cx="5394960" cy="41148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94960" cy="41148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0B7A75"/>
                </a:solidFill>
                <a:latin typeface="微軟正黑體"/>
                <a:ea typeface="微軟正黑體"/>
              </a:rPr>
              <a:t>站內補給 ✕ 商業招商開發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17231C"/>
                </a:solidFill>
                <a:latin typeface="微軟正黑體"/>
                <a:ea typeface="微軟正黑體"/>
              </a:rPr>
              <a:t>串接站內既存租賃服務與特約廠商，轉化為高動能導客商機：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E776F"/>
                </a:solidFill>
                <a:latin typeface="微軟正黑體"/>
                <a:ea typeface="微軟正黑體"/>
              </a:rPr>
              <a:t>· 補給：rainGo 共享傘、旅電行動電源、小樹屋電話亭會議亭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6E776F"/>
                </a:solidFill>
                <a:latin typeface="微軟正黑體"/>
                <a:ea typeface="微軟正黑體"/>
              </a:rPr>
              <a:t>· 點券：亞尼克 YTM 蛋糕自助機、全家、黑潮咖啡站內櫃位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★ 招商加值：原本單純的租賃合約被附加「Go App 即時推播、捷運點導客券與核銷」的數位行銷方案！租賃點位單價與北捷非票務收入大幅倍增！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5696712"/>
            <a:ext cx="11155680" cy="7132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5623560"/>
            <a:ext cx="11155680" cy="713232"/>
          </a:xfrm>
          <a:prstGeom prst="roundRect">
            <a:avLst>
              <a:gd name="adj" fmla="val 12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17231C"/>
                </a:solidFill>
                <a:latin typeface="微軟正黑體"/>
                <a:ea typeface="微軟正黑體"/>
              </a:rPr>
              <a:t>商業與市政雙贏：日常通勤賺點 ✕ 市政健康共享 ✕ 既存商業開發 $_x000D_ightarrow$ Earn-to-Spend 永續點數閉環！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情感引擎：類皮克敏的遊戲化世界觀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5029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2124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內容創新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93975"/>
            <a:ext cx="2551176" cy="2560320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011679"/>
            <a:ext cx="2551176" cy="2560320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ory-moda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121408"/>
            <a:ext cx="2331720" cy="2344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49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7231C"/>
                </a:solidFill>
                <a:latin typeface="微軟正黑體"/>
                <a:ea typeface="微軟正黑體"/>
              </a:rPr>
              <a:t>開場故事：拯救碳森林危機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6976" y="1463039"/>
            <a:ext cx="1956815" cy="3822191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54680" y="1380743"/>
            <a:ext cx="1956815" cy="3822191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hone-hatch-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1490472"/>
            <a:ext cx="1737360" cy="36032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0" y="53492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7231C"/>
                </a:solidFill>
                <a:latin typeface="微軟正黑體"/>
                <a:ea typeface="微軟正黑體"/>
              </a:rPr>
              <a:t>健康任務充能 → 夥伴孵化出世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94376" y="1463039"/>
            <a:ext cx="1956815" cy="3822191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12080" y="1380743"/>
            <a:ext cx="1956815" cy="3822191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hone-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1490472"/>
            <a:ext cx="1737360" cy="36032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66360" y="53492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7231C"/>
                </a:solidFill>
                <a:latin typeface="微軟正黑體"/>
                <a:ea typeface="微軟正黑體"/>
              </a:rPr>
              <a:t>散步小隊棲地 ✕ 分享森林卡片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508760"/>
            <a:ext cx="4389120" cy="3977639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1417320"/>
            <a:ext cx="4389120" cy="3977639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1627632"/>
            <a:ext cx="3794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FFD34D"/>
                </a:solidFill>
                <a:latin typeface="微軟正黑體"/>
                <a:ea typeface="微軟正黑體"/>
              </a:rPr>
              <a:t>以情感驅動，破除點數冷感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將減碳數據化為生命，創造市民每天開啟的樂趣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C8F3DF"/>
                </a:solidFill>
                <a:latin typeface="微軟正黑體"/>
                <a:ea typeface="微軟正黑體"/>
              </a:rPr>
              <a:t>🌲 情感世界觀 · 碳森林救援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出站省下的碳 = 拯救濒危碳森林。小捷引導，使命感拉滿。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C8F3DF"/>
                </a:solidFill>
                <a:latin typeface="微軟正黑體"/>
                <a:ea typeface="微軟正黑體"/>
              </a:rPr>
              <a:t>🐣 散步夥伴與站點裝扮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U-Sport/Walk/Bike 任務蛋孵化夥伴「步步、輪輪、汗汗」。附帶站點限定裝扮（如市政府汗帶、忠孝復興共享傘），激發市民搜集魂。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C8F3DF"/>
                </a:solidFill>
                <a:latin typeface="微軟正黑體"/>
                <a:ea typeface="微軟正黑體"/>
              </a:rPr>
              <a:t>🌱 每週收成與培育神木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週日收成儀式結算「種子」，培育神木升級。高黏著、高回訪。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88352" y="5605272"/>
            <a:ext cx="4389120" cy="6858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0" y="5532120"/>
            <a:ext cx="4389120" cy="685800"/>
          </a:xfrm>
          <a:prstGeom prst="roundRect">
            <a:avLst>
              <a:gd name="adj" fmla="val 12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遊戲化不是點綴，是讓市民從被動配合到主動熱愛的引擎！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3 分鐘 Demo 動線：一條故事線走完全部機制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169164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① 故事與設定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77440"/>
            <a:ext cx="1819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3 頁世界觀故事引入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進行常用通勤路線 Onboarding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（深設常用出站點）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155448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79776" y="146304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0088" y="173736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44368" y="169164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② 出站與結算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377440"/>
            <a:ext cx="1819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列車陪伴答題互動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手動出站：+15點 / +0.23kg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離峰通勤獲稀有種子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48072" y="155448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56632" y="146304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66944" y="173736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21224" y="169164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③ 任務與孵蛋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2377440"/>
            <a:ext cx="1819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做健康生活圈任務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（YouBike/U-Sport）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對應蛋充能 100% 孵化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8" y="155448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33488" y="146304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43800" y="173736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80" y="169164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④ 森林與收成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377440"/>
            <a:ext cx="1819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夥伴即時入住森林棲地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每週日儀式手動收成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消耗種子培育神木升級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01784" y="155448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10344" y="146304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20656" y="173736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74936" y="169164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⑤ 花點換券核銷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74936" y="2377440"/>
            <a:ext cx="1819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100點首兌全家10元券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條碼核銷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底層封存去識別資料指紋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937759"/>
            <a:ext cx="11155680" cy="13716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846320"/>
            <a:ext cx="11155680" cy="137160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0292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微軟正黑體"/>
                <a:ea typeface="微軟正黑體"/>
              </a:rPr>
              <a:t>評審亮點（第 ⑥ 步）：切到 B2B 營運主控台 — 前端乘客端的所有動作即時滾入 LIVE 互動流！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C8F3DF"/>
                </a:solidFill>
                <a:latin typeface="微軟正黑體"/>
                <a:ea typeface="微軟正黑體"/>
              </a:rPr>
              <a:t>真正完成雙端聯動原型；模擬「離峰通勤」直接對映北捷「尖峰運能舒緩、離峰乘座率提升」關鍵營運 KPI。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健康共享與站內招商：無缝串接，零建成本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453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U-Sport 體育中心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54533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入場運動 充能 +85% (孵化汗汗夥伴)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72768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527048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17231C"/>
                </a:solidFill>
                <a:latin typeface="微軟正黑體"/>
                <a:ea typeface="微軟正黑體"/>
              </a:rPr>
              <a:t>市府既有健康政策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22576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2258568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865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U-Walk 萬步挑戰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38658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出站步行 2,000 步 充能 +65% (孵化步步)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414016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2368296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17231C"/>
                </a:solidFill>
                <a:latin typeface="微軟正黑體"/>
                <a:ea typeface="微軟正黑體"/>
              </a:rPr>
              <a:t>市府既有運動政策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163824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099816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278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YouBike 低碳接駁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2278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捷運接駁 10 分鐘 充能 +35% (孵化輪輪)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255264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3209544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17231C"/>
                </a:solidFill>
                <a:latin typeface="微軟正黑體"/>
                <a:ea typeface="微軟正黑體"/>
              </a:rPr>
              <a:t>既存公共共享運具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05072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3941064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rainGo 共享傘 / 旅電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069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站內雨天借傘 / 補電行動電源 +5 捷運點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096512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4050792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17231C"/>
                </a:solidFill>
                <a:latin typeface="微軟正黑體"/>
                <a:ea typeface="微軟正黑體"/>
              </a:rPr>
              <a:t>北捷既存租賃廠商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846320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4782312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9103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亞尼克 YTM / 小樹屋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9103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站內蛋糕自助機 / 電話亭會議空間 享折扣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937760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46520" y="4892040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17231C"/>
                </a:solidFill>
                <a:latin typeface="微軟正黑體"/>
                <a:ea typeface="微軟正黑體"/>
              </a:rPr>
              <a:t>北捷既存租賃廠商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19" y="1508760"/>
            <a:ext cx="3474720" cy="4160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83879" y="1417320"/>
            <a:ext cx="3474720" cy="416052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16916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FFD34D"/>
                </a:solidFill>
                <a:latin typeface="微軟正黑體"/>
                <a:ea typeface="微軟正黑體"/>
              </a:rPr>
              <a:t>北捷與市府的政策槓桿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  <a:ea typeface="微軟正黑體"/>
              </a:rPr>
              <a:t>每個任務對應「已在營運」的公共設施或招商廠商。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  <a:ea typeface="微軟正黑體"/>
              </a:rPr>
              <a:t>北捷不需新建任何硬體基礎設施，只需 API 對接與活動規則！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C8F3DF"/>
                </a:solidFill>
                <a:latin typeface="微軟正黑體"/>
                <a:ea typeface="微軟正黑體"/>
              </a:rPr>
              <a:t>租賃空間租合約被附加「Go App 推播導客能力」，單店坪效大幅提升！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FFD34D"/>
                </a:solidFill>
                <a:latin typeface="微軟正黑體"/>
                <a:ea typeface="微軟正黑體"/>
              </a:rPr>
              <a:t>健康 ✕ 減碳 ✕ 商業：市府政策與北捷營收同發！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雙端 LIVE 聯動：乘客端 ✕ B2B 營運主控台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19" y="1463040"/>
            <a:ext cx="2880360" cy="4892040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880360" cy="4892040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one-today-sett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536192"/>
            <a:ext cx="2006056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607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7231C"/>
                </a:solidFill>
                <a:latin typeface="微軟正黑體"/>
                <a:ea typeface="微軟正黑體"/>
              </a:rPr>
              <a:t>乘客端：出站結算雙入帳＋首兌進度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463040"/>
            <a:ext cx="2880360" cy="4892040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94760" y="1371600"/>
            <a:ext cx="2880360" cy="4892040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hone-b2b-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536192"/>
            <a:ext cx="2006056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94760" y="57607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7231C"/>
                </a:solidFill>
                <a:latin typeface="微軟正黑體"/>
                <a:ea typeface="微軟正黑體"/>
              </a:rPr>
              <a:t>B2B 營運主控台：LIVE 互動流 ✕ 營運 KPI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463040"/>
            <a:ext cx="4617720" cy="48920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86600" y="1371600"/>
            <a:ext cx="4617720" cy="489204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60020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FFD34D"/>
                </a:solidFill>
                <a:latin typeface="微軟正黑體"/>
                <a:ea typeface="微軟正黑體"/>
              </a:rPr>
              <a:t>現場一秒體驗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  <a:ea typeface="微軟正黑體"/>
              </a:rPr>
              <a:t>純前端高擬真原型，免安裝免註冊，可在決賽現場無網完全離線執行（配備全套離線備援包）。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79792" y="3136392"/>
            <a:ext cx="1828800" cy="1828800"/>
          </a:xfrm>
          <a:prstGeom prst="roundRect">
            <a:avLst>
              <a:gd name="adj" fmla="val 1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06640" y="3063240"/>
            <a:ext cx="1828800" cy="1828800"/>
          </a:xfrm>
          <a:prstGeom prst="roundRect">
            <a:avLst>
              <a:gd name="adj" fmla="val 10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-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3172968"/>
            <a:ext cx="1609344" cy="16093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18320" y="32004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掃碼即玩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C8F3DF"/>
                </a:solidFill>
                <a:latin typeface="Consolas"/>
                <a:ea typeface="Consolas"/>
              </a:rPr>
              <a:t>from-carbon-metro-vote.pages.dev/demo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525780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Demo 亮點：手按乘客端「出站、兌換」，主控台的 CPS LIVE 事件流和導客數據即時跳動，完美映射尖峰分流與招商營收！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技術硬底子：全場唯一 Numbers 可稽核數據信託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6949440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6949440" cy="301752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6309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軟正黑體"/>
                <a:ea typeface="微軟正黑體"/>
              </a:rPr>
              <a:t>發出的每一克減碳、每一點發放，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100" b="1">
                <a:solidFill>
                  <a:srgbClr val="FFD34D"/>
                </a:solidFill>
                <a:latin typeface="微軟正黑體"/>
                <a:ea typeface="微軟正黑體"/>
              </a:rPr>
              <a:t>都經得起外部嚴格審計信託。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軟正黑體"/>
                <a:ea typeface="微軟正黑體"/>
              </a:rPr>
              <a:t>· 類比雲端發票載具：市民個人減碳與核銷紀錄，自動封存為去識別化可攜資產，換手機不丟失，第三方可驗證。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C8F3DF"/>
                </a:solidFill>
                <a:latin typeface="微軟正黑體"/>
                <a:ea typeface="微軟正黑體"/>
              </a:rPr>
              <a:t>· 資料指紋 (Provenance)：核銷與減碳憑證自動計算 SHA-256 數據指紋寫入分散式 Ledger，保證不可篡改、不重複發放。直接對接企業綠色金融或 ESG 合規審計首選！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4690872"/>
            <a:ext cx="6949440" cy="7772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4617720"/>
            <a:ext cx="6949440" cy="7772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17231C"/>
                </a:solidFill>
                <a:latin typeface="Consolas"/>
                <a:ea typeface="Consolas"/>
              </a:rPr>
              <a:t>Human Truth. Machine Proof. — Numbers Protocol 支持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19" y="1463040"/>
            <a:ext cx="2743200" cy="4663440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26679" y="1371600"/>
            <a:ext cx="2743200" cy="4663440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hone-voucher-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536192"/>
            <a:ext cx="1917878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6679" y="5623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7231C"/>
                </a:solidFill>
                <a:latin typeface="微軟正黑體"/>
                <a:ea typeface="微軟正黑體"/>
              </a:rPr>
              <a:t>核銷券附「資料指紋已封存」憑證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641848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5577840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C8F3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安全與隱私底線：Opt-in 授權、去識別化統計統計、不儲存敏感軌跡、隨時可一鍵關閉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可行性與首年財務試算（非空中樓閣）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6E776F"/>
                </a:solidFill>
                <a:latin typeface="微軟正黑體"/>
                <a:ea typeface="微軟正黑體"/>
              </a:rPr>
              <a:t>合作金流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0B7A75"/>
                </a:solidFill>
                <a:latin typeface="Arial Black"/>
                <a:ea typeface="Arial Black"/>
              </a:rPr>
              <a:t>NT$ 2,270 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1" y="150876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5112" y="141732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6E776F"/>
                </a:solidFill>
                <a:latin typeface="微軟正黑體"/>
                <a:ea typeface="微軟正黑體"/>
              </a:rPr>
              <a:t>點數與營運支出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0116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F5A524"/>
                </a:solidFill>
                <a:latin typeface="Arial Black"/>
                <a:ea typeface="Arial Black"/>
              </a:rPr>
              <a:t>NT$ 1,525 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150876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47304" y="141732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6E776F"/>
                </a:solidFill>
                <a:latin typeface="微軟正黑體"/>
                <a:ea typeface="微軟正黑體"/>
              </a:rPr>
              <a:t>可支應營運餘額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0116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38B86F"/>
                </a:solidFill>
                <a:latin typeface="Arial Black"/>
                <a:ea typeface="Arial Black"/>
              </a:rPr>
              <a:t>NT$ 745 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91840"/>
            <a:ext cx="7223760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200400"/>
            <a:ext cx="7223760" cy="301752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6583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FFD34D"/>
                </a:solidFill>
                <a:latin typeface="微軟正黑體"/>
                <a:ea typeface="微軟正黑體"/>
              </a:rPr>
              <a:t>IFRS 15 點數會計與 Breakage 管理（直球對決財務評審）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  <a:ea typeface="微軟正黑體"/>
              </a:rPr>
              <a:t>· 發點遞延處理：發放時列合約負債（遞延收入），實際核銷或逾期時認列收入。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  <a:ea typeface="微軟正黑體"/>
              </a:rPr>
              <a:t>· Breakage 精精算：引入 OPENPOINT 歷史未兌換率（Breakage）估算，不虛增負債壓力。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  <a:ea typeface="微軟正黑體"/>
              </a:rPr>
              <a:t>· 成本共同分攤：站內特約商家、既存租賃商共同出資點數池，北捷負債壓力完全可控！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C8F3DF"/>
                </a:solidFill>
                <a:latin typeface="微軟正黑體"/>
                <a:ea typeface="微軟正黑體"/>
              </a:rPr>
              <a:t>· 研究底稿：完整分析 LINE POINTS、星巴克與 Marriott 之會計實務。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291840"/>
            <a:ext cx="3657600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01000" y="3200400"/>
            <a:ext cx="3657600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4290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B7A75"/>
                </a:solidFill>
                <a:latin typeface="微軟正黑體"/>
                <a:ea typeface="微軟正黑體"/>
              </a:rPr>
              <a:t>金流來源拆解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· 商家精準廣告與導客分成 (5%–15%)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· 站內租賃空間 App 導客溢價租金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· 市府健康/綠色生活圈補貼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· 綠色企業 ESG 數據稽核與採購分成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三階段導入藍圖與誠實標註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7231C"/>
                </a:solidFill>
                <a:latin typeface="微軟正黑體"/>
                <a:ea typeface="微軟正黑體"/>
              </a:rPr>
              <a:t>決賽階段 (現有成果)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40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可操作高擬真原型與 B2B 主控台，100% 離線備援可用，展現核心商業與健康機制。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19456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17231C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1" y="150876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1" y="164592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3712" y="160020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7231C"/>
                </a:solidFill>
                <a:latin typeface="微軟正黑體"/>
                <a:ea typeface="微軟正黑體"/>
              </a:rPr>
              <a:t>試辦階段 (半年導入)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240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選定 2–3 個示範生活圈站點，對接 U-Sport / Walk 政策，串聯站內既存廠商出站導客。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219456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17231C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50876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7304" y="141732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64592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75904" y="160020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7231C"/>
                </a:solidFill>
                <a:latin typeface="微軟正黑體"/>
                <a:ea typeface="微軟正黑體"/>
              </a:rPr>
              <a:t>擴大階段 (一年推廣)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2240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活化常客優惠轉點機制，對接悠遊付百萬商家網絡，引進綠色企業 ESG 數據信託採購。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" y="4050791"/>
            <a:ext cx="5486400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977639"/>
            <a:ext cx="5486400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38B86F"/>
                </a:solidFill>
                <a:latin typeface="微軟正黑體"/>
                <a:ea typeface="微軟正黑體"/>
              </a:rPr>
              <a:t>✓ 100% 驗證 / 有依據的真實資產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北捷 207.4 萬日運量、雨天 rainGo 共享傘、YouBike 既存接駁。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U-Sport / Walk 台北市體育局與衛生局既有成熟健康系統。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採用臺北市資料大平臺「各站分時進出量」開放資料進行時段設計。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4050791"/>
            <a:ext cx="5486400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3977639"/>
            <a:ext cx="5486400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FF6A3D"/>
                </a:solidFill>
                <a:latin typeface="微軟正黑體"/>
                <a:ea typeface="微軟正黑體"/>
              </a:rPr>
              <a:t>△ 待北捷核准 / 落地調整之假設（誠實標註）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減碳係數 104 / 75 / 29 g／人km（北捷座談分享，導入時對接標準）。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財務精算中所涉及之月活會員（Go App 會員基底約 20-30 萬）與導客率。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試辦階段之具體分流加碼點數、團隊與北捷之技術授權與營運義務。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團隊：私部門技術力 ✕ 點數模型 ✕ 公共政策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7231C"/>
                </a:solidFill>
                <a:latin typeface="微軟正黑體"/>
                <a:ea typeface="微軟正黑體"/>
              </a:rPr>
              <a:t>嚴世紀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231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37744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0B7A75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軟正黑體"/>
                <a:ea typeface="微軟正黑體"/>
              </a:rPr>
              <a:t>Numbers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專案總指揮、分散式系統架構、可信數據層驗證與信託底座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1" y="155448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46304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737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7231C"/>
                </a:solidFill>
                <a:latin typeface="微軟正黑體"/>
                <a:ea typeface="微軟正黑體"/>
              </a:rPr>
              <a:t>鍾天傑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5151" y="24231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9431" y="237744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7231C"/>
                </a:solidFill>
                <a:latin typeface="微軟正黑體"/>
                <a:ea typeface="微軟正黑體"/>
              </a:rPr>
              <a:t>LINE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30632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點數經濟模型設計、促銷乘數架構、高留存遊戲化 UX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55448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7304" y="146304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1737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7231C"/>
                </a:solidFill>
                <a:latin typeface="微軟正黑體"/>
                <a:ea typeface="微軟正黑體"/>
              </a:rPr>
              <a:t>嚴世裕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67344" y="24231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21624" y="237744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38B86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軟正黑體"/>
                <a:ea typeface="微軟正黑體"/>
              </a:rPr>
              <a:t>台北市政府地政局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30632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ESG 綠色政策對接、市府開放資料整合、行政合規審查與防禦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754879"/>
            <a:ext cx="11155680" cy="14173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663440"/>
            <a:ext cx="11155680" cy="141732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64608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D34D"/>
                </a:solidFill>
                <a:latin typeface="微軟正黑體"/>
                <a:ea typeface="微軟正黑體"/>
              </a:rPr>
              <a:t>私部門技術力 × 點數經濟實戰 × 公部門政策力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C8F3DF"/>
                </a:solidFill>
                <a:latin typeface="微軟正黑體"/>
                <a:ea typeface="微軟正黑體"/>
              </a:rPr>
              <a:t>技術支持：Omni Edge（AI 智能體平台）· Numbers Protocol（可信數據基礎建設，Human Truth. Machine Proof.）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附錄 QA 備彈與收尾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6675120" cy="43891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6675120" cy="43891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0B7A75"/>
                </a:solidFill>
                <a:latin typeface="微軟正黑體"/>
                <a:ea typeface="微軟正黑體"/>
              </a:rPr>
              <a:t>評審 QA 直球回答（黑傑客備彈）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FF6A3D"/>
                </a:solidFill>
                <a:latin typeface="微軟正黑體"/>
                <a:ea typeface="微軟正黑體"/>
              </a:rPr>
              <a:t>Q：點數發放與回饋成本誰出？會不會拖累北捷財務？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A：由站內既存租賃商家與全家等特約商之「行銷與廣告預算」出資，北捷非票務招商營收增加而非成本增加，財務完全可控。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FF6A3D"/>
                </a:solidFill>
                <a:latin typeface="微軟正黑體"/>
                <a:ea typeface="微軟正黑體"/>
              </a:rPr>
              <a:t>Q：被挑戰減碳數字不準或灌水怎麼辦？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A：29 gCO2e/km 為可配置參數（Demo 可調），採用北捷座談會數值並誠實標註。導入時100%對接環境部或北捷標準。數據均附 Numbers 資料指紋防篡改。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FF6A3D"/>
                </a:solidFill>
                <a:latin typeface="微軟正黑體"/>
                <a:ea typeface="微軟正黑體"/>
              </a:rPr>
              <a:t>Q：跟 Go App 整合需要改動核心系統嗎？成本多高？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A：不改動售票/進出站核心，以「輕量 API 對接推播與 Go!Map 商家庫」做加值模組。試辦僅需 2–3 站既存生活圈與現有廠商，導入門檻與風險極低。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63040"/>
            <a:ext cx="4251960" cy="43891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1371600"/>
            <a:ext cx="4251960" cy="438912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00200"/>
            <a:ext cx="37490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FFD34D"/>
                </a:solidFill>
                <a:latin typeface="微軟正黑體"/>
                <a:ea typeface="微軟正黑體"/>
              </a:rPr>
              <a:t>每一次通勤，都是可驗證的減碳資產</a:t>
            </a:r>
          </a:p>
          <a:p>
            <a:pPr algn="l">
              <a:lnSpc>
                <a:spcPct val="120000"/>
              </a:lnSpc>
              <a:spcAft>
                <a:spcPts val="1500"/>
              </a:spcAft>
            </a:pPr>
            <a:r>
              <a:rPr sz="1250" b="0">
                <a:solidFill>
                  <a:srgbClr val="C8F3DF"/>
                </a:solidFill>
                <a:latin typeface="微軟正黑體"/>
                <a:ea typeface="微軟正黑體"/>
              </a:rPr>
              <a:t>從碳客變捷客 — 讓每趟捷運，成為省錢與減碳的情感證明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軟正黑體"/>
                <a:ea typeface="微軟正黑體"/>
              </a:rPr>
              <a:t>互動原型（免安裝 · 可完全離線體驗）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100" b="1">
                <a:solidFill>
                  <a:srgbClr val="C8F3DF"/>
                </a:solidFill>
                <a:latin typeface="Consolas"/>
                <a:ea typeface="Consolas"/>
              </a:rPr>
              <a:t>https://from-carbon-metro-vote.pages.dev/demo/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大會人氣票選進行中，投給【從碳客變捷客】！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08392" y="4645152"/>
            <a:ext cx="3794760" cy="10058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21510000">
            <a:off x="7635240" y="4572000"/>
            <a:ext cx="3794760" cy="1005840"/>
          </a:xfrm>
          <a:prstGeom prst="roundRect">
            <a:avLst>
              <a:gd name="adj" fmla="val 12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450" b="1">
                <a:solidFill>
                  <a:srgbClr val="17231C"/>
                </a:solidFill>
                <a:latin typeface="微軟正黑體"/>
                <a:ea typeface="微軟正黑體"/>
              </a:rPr>
              <a:t>黑捷客出發，創意進站！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17231C"/>
                </a:solidFill>
                <a:latin typeface="微軟正黑體"/>
                <a:ea typeface="微軟正黑體"/>
              </a:rPr>
              <a:t>我們決賽現場見！🏆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