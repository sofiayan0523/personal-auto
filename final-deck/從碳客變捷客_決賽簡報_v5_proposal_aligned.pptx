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2648" y="612648"/>
            <a:ext cx="6766560" cy="5852160"/>
          </a:xfrm>
          <a:prstGeom prst="roundRect">
            <a:avLst>
              <a:gd name="adj" fmla="val 6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6766560" cy="5852160"/>
          </a:xfrm>
          <a:prstGeom prst="roundRect">
            <a:avLst>
              <a:gd name="adj" fmla="val 6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8F3DF"/>
                </a:solidFill>
                <a:latin typeface="微軟正黑體"/>
                <a:ea typeface="微軟正黑體"/>
              </a:rPr>
              <a:t>2026 捷運盃黑客松 · 決賽提案 (提案審閱對齊版)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微軟正黑體"/>
                <a:ea typeface="微軟正黑體"/>
              </a:rPr>
              <a:t>從碳客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>
                <a:solidFill>
                  <a:srgbClr val="FFD34D"/>
                </a:solidFill>
                <a:latin typeface="微軟正黑體"/>
                <a:ea typeface="微軟正黑體"/>
              </a:rPr>
              <a:t>變捷客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4233672"/>
            <a:ext cx="5394960" cy="713232"/>
          </a:xfrm>
          <a:prstGeom prst="roundRect">
            <a:avLst>
              <a:gd name="adj" fmla="val 3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1510000">
            <a:off x="1005840" y="4160520"/>
            <a:ext cx="5394960" cy="713232"/>
          </a:xfrm>
          <a:prstGeom prst="roundRect">
            <a:avLst>
              <a:gd name="adj" fmla="val 30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7231C"/>
                </a:solidFill>
                <a:latin typeface="微軟正黑體"/>
                <a:ea typeface="微軟正黑體"/>
              </a:rPr>
              <a:t>每一次通勤，都是可驗證的減碳資產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團隊：想領獎金的捷客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8F3DF"/>
                </a:solidFill>
                <a:latin typeface="微軟正黑體"/>
                <a:ea typeface="微軟正黑體"/>
              </a:rPr>
              <a:t>把捷運點變成「健康共享生活圈」的入口 · 串接市府健康政策與站內招商的永續商模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4967" y="1161288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1051560"/>
            <a:ext cx="4023360" cy="3200400"/>
          </a:xfrm>
          <a:prstGeom prst="roundRect">
            <a:avLst>
              <a:gd name="adj" fmla="val 8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3657600" cy="24479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909560" y="4023359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21480000">
            <a:off x="7863840" y="3977639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6A3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決賽 10 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402335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90000">
            <a:off x="9555480" y="397763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互動 Demo 可玩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8920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6E776F"/>
                </a:solidFill>
                <a:latin typeface="微軟正黑體"/>
                <a:ea typeface="微軟正黑體"/>
              </a:rPr>
              <a:t>線上互動原型 (C端/B2B聯動)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0B7A75"/>
                </a:solidFill>
                <a:latin typeface="Consolas"/>
                <a:ea typeface="Consolas"/>
              </a:rPr>
              <a:t>from-carbon-metro-vote.pages.dev/demo/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痛點重構：Go App 資訊化，市民無感、點數冷感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微軟正黑體"/>
                <a:ea typeface="微軟正黑體"/>
              </a:rPr>
              <a:t>臺北捷運 114 年平均日運量 207.4 萬人次 — 每一趟都是尚未被資產化的減碳貢獻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C8F3DF"/>
                </a:solidFill>
                <a:latin typeface="微軟正黑體"/>
                <a:ea typeface="微軟正黑體"/>
              </a:rPr>
              <a:t>資料來源：臺北捷運公司公開營運統計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825496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Go App 資訊化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現行 App 偏向靜態資訊查詢（時刻表、路線圖、進站狀態），缺乏高黏著的日常情境推播，市民日常通勤缺乏開啟 App 的高頻動機與樂趣。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825496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27432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1" y="30175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297180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點數閒置過期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由於缺乏消耗場景與感官回饋，捷運點多被遺忘或過期失效，造成使用者點數冷感，北捷亦面臨點數負債與高過期（Breakage）會計壓力。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825496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274320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30175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297180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31C"/>
                </a:solidFill>
                <a:latin typeface="微軟正黑體"/>
                <a:ea typeface="微軟正黑體"/>
              </a:rPr>
              <a:t>減碳貢獻無感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6576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市民雖知搭捷運環保，但「我今天這趟通勤省下多少碳、對城市有何貢獻」從未被具體量化，減碳流於口號，難以轉化為實質的行為改變。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5202936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17231C"/>
                </a:solidFill>
                <a:latin typeface="微軟正黑體"/>
                <a:ea typeface="微軟正黑體"/>
              </a:rPr>
              <a:t>核心挑戰：如何破除資訊化 App 的冷感？唯有「引入類皮克敏遊戲化引擎」，串接「市政健康政策」與「站內既存商業租賃」，才能打造高黏著的 Earn-to-Spend 減碳生活圈！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提案概念：捷運健康共享生活圈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FFD34D"/>
                </a:solidFill>
                <a:latin typeface="微軟正黑體"/>
                <a:ea typeface="微軟正黑體"/>
              </a:rPr>
              <a:t>市政健康共享生活圈 (E &amp; S)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FFFFF"/>
                </a:solidFill>
                <a:latin typeface="微軟正黑體"/>
                <a:ea typeface="微軟正黑體"/>
              </a:rPr>
              <a:t>以「捷運點」為核心，直接對接台北市既存健康政策：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U-Sport (體育局運動中心) 入場 → 累積減碳與健康進度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U-Walk (衛生局健康萬步挑戰) 步行 → 出站沿線完成任務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· YouBike (交通局接駁) 騎行 → 省碳直接加成賺點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軟正黑體"/>
                <a:ea typeface="微軟正黑體"/>
              </a:rPr>
              <a:t>★ 零新建成本：100% 串接市府既存成熟系統，免發空包彈，點數具有真實健康行為支撐！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1463040"/>
            <a:ext cx="5394960" cy="4114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41148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0B7A75"/>
                </a:solidFill>
                <a:latin typeface="微軟正黑體"/>
                <a:ea typeface="微軟正黑體"/>
              </a:rPr>
              <a:t>站內補給 ✕ 商業招商開發 (G &amp; Profit)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串接站內既存租賃服務與特約廠商，轉化為高動能導客商機：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E776F"/>
                </a:solidFill>
                <a:latin typeface="微軟正黑體"/>
                <a:ea typeface="微軟正黑體"/>
              </a:rPr>
              <a:t>· 補給：rainGo 共享傘、旅電/ChargeSPOT、小樹屋會議亭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6E776F"/>
                </a:solidFill>
                <a:latin typeface="微軟正黑體"/>
                <a:ea typeface="微軟正黑體"/>
              </a:rPr>
              <a:t>· 點券：亞尼克 YTM 蛋糕自助機、全家、黑潮咖啡站內櫃位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7231C"/>
                </a:solidFill>
                <a:latin typeface="微軟正黑體"/>
                <a:ea typeface="微軟正黑體"/>
              </a:rPr>
              <a:t>★ 招商加值：原本單純的空間租賃合約被附加「Go App 即時推播、捷運點導客券與核銷」的數位行銷方案！租賃點位招商單價與北捷非票務收入大幅倍增！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5696712"/>
            <a:ext cx="1115568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5623560"/>
            <a:ext cx="11155680" cy="713232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17231C"/>
                </a:solidFill>
                <a:latin typeface="微軟正黑體"/>
                <a:ea typeface="微軟正黑體"/>
              </a:rPr>
              <a:t>日常通勤賺點 ✕ 市政健康共享 ✕ 既存商業租賃 ＝ 一個無新建硬體成本、市民、北捷、合作方三贏的永續閉環！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情感引擎：類皮克敏的遊戲化世界觀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5029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212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內容創新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93975"/>
            <a:ext cx="2551176" cy="256032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11679"/>
            <a:ext cx="2551176" cy="256032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ory-moda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21408"/>
            <a:ext cx="2331720" cy="2344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49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開場故事：拯救碳森林危機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6976" y="1463039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4680" y="1380743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one-hatch-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490472"/>
            <a:ext cx="1737360" cy="3603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5349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健康任務充能 → 夥伴孵化出世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94376" y="1463039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1380743"/>
            <a:ext cx="1956815" cy="3822191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490472"/>
            <a:ext cx="1737360" cy="36032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66360" y="5349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散步小隊棲地 ✕ 培育神木升級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508760"/>
            <a:ext cx="4389120" cy="3977639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1417320"/>
            <a:ext cx="4389120" cy="3977639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627632"/>
            <a:ext cx="3794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FFD34D"/>
                </a:solidFill>
                <a:latin typeface="微軟正黑體"/>
                <a:ea typeface="微軟正黑體"/>
              </a:rPr>
              <a:t>以情感驅動，破除點數冷感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將乾燥的減碳數字，化為有生命的陪伴：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C8F3DF"/>
                </a:solidFill>
                <a:latin typeface="微軟正黑體"/>
                <a:ea typeface="微軟正黑體"/>
              </a:rPr>
              <a:t>🌲 碳森林救援故事：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出站省下的碳，能灌溉瀕危碳森林。小捷情境引導，使命感拉滿。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C8F3DF"/>
                </a:solidFill>
                <a:latin typeface="微軟正黑體"/>
                <a:ea typeface="微軟正黑體"/>
              </a:rPr>
              <a:t>🐣 散步夥伴與限定裝扮：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YouBike 任務孵化「輪輪」、U-Walk 孵化「步步」、U-Sport 孵化「汗汗」。配備市政府運動汗帶、共享傘等限定裝扮，預防首頁空洞，激發市民搜集魂。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C8F3DF"/>
                </a:solidFill>
                <a:latin typeface="微軟正黑體"/>
                <a:ea typeface="微軟正黑體"/>
              </a:rPr>
              <a:t>🌱 每週收成與培育神木：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週日手動收成結算「種子」，培育森林神木升級，建立高黏著高回訪行為。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8352" y="5605272"/>
            <a:ext cx="4389120" cy="685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5532120"/>
            <a:ext cx="4389120" cy="685800"/>
          </a:xfrm>
          <a:prstGeom prst="roundRect">
            <a:avLst>
              <a:gd name="adj" fmla="val 12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遊戲化不是點綴，是讓市民從「配合政策」轉為「主動熱愛」的黏著引擎！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四個示範情境：出站最需要的時刻觸發補給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399032"/>
            <a:ext cx="11155680" cy="713232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713232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微軟正黑體"/>
                <a:ea typeface="微軟正黑體"/>
              </a:rPr>
              <a:t>示範流程聚焦「站點情境 → 推播 → 任務 → 回饋 → 衡量」的完整鏈條，完美對接市民出站生活需求。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322576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5146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246888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場景 A：下班健康任務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154680"/>
            <a:ext cx="2377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出站時，Go App 推播：「今日離萬步還差 2,000 步！步行到中山運動中心入場，即得 15 捷運點，且 U-Walk 蛋充能 100% 孵出步步！」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→ 資料：出站點、時間、opt-in 健康偏好。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1" y="2322576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28415" y="2240280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7" y="25146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3008" y="246888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場景 B：雨天共享接力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154680"/>
            <a:ext cx="2377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出站遇雨，App 推播：「本站有 rainGo 共享傘機台；完成甲借乙還，可得 5 捷運點與共享傘徽章！」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→ 資料：即時天氣、站點、共享傘即時狀態。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2322576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53912" y="2240280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3" y="25146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18503" y="246888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場景 C：週末低碳生活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3154680"/>
            <a:ext cx="2377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週末減碳行程：「捷運到大安森林公園站 + YouBike 接駁 10 分鐘 + 亞尼克 YTM 蛋糕補給，領取乘數加成。」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→ 資料：週末模式、YouBike 站點、YTM 銷點店家。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2322576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79408" y="2240280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251460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46888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場景 D：轉乘空檔服務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154680"/>
            <a:ext cx="2377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轉乘有 35 分鐘空檔：「中山站有小樹屋電話亭可預約會議，附近快閃櫃或快剪店可用捷運點換券，低等待。」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→ 資料：站點租賃服務、轉乘時段、會員自選偏好。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3 分鐘 Demo 動線：一條故事線走完全部機制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① 故事與設定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3 頁世界觀故事引入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常用路線 Onboarding 設定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（深設常用通勤路線）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9776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0088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44368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② 出站與結算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隨車答題互動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出站：+15點 / +0.23kg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離峰通勤獲稀有種子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8072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56632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66944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21224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③ 任務與孵蛋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做健康生活圈任務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（YouBike/U-Sport）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對應夥伴蛋 100% 孵化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8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33488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43800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80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④ 森林與收成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夥伴即時入住森林棲地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週日手動收成獲種子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培育神木、升級神木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01784" y="155448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10344" y="1463040"/>
            <a:ext cx="2112264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20656" y="173736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74936" y="1691640"/>
            <a:ext cx="1600200" cy="502920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⑤ 花點換券核銷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4936" y="2377440"/>
            <a:ext cx="1819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100 點兌換全家券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條碼/QR code 現場核銷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Numbers 去識別指紋封存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937759"/>
            <a:ext cx="11155680" cy="13716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846320"/>
            <a:ext cx="11155680" cy="137160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微軟正黑體"/>
                <a:ea typeface="微軟正黑體"/>
              </a:rPr>
              <a:t>評審高光（第 ⑥ 步）：切到 B2B 營運主控台 — 剛在乘客端完成的動作即時滾入 LIVE 互動流！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C8F3DF"/>
                </a:solidFill>
                <a:latin typeface="微軟正黑體"/>
                <a:ea typeface="微軟正黑體"/>
              </a:rPr>
              <a:t>真正完成雙端實時聯動原型；模擬「離峰通勤」直接對應北捷「尖峰運能舒緩、離峰乘坐率提升」關鍵營運 KPI。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點數機制與任務設計：先設計行為，再決定發點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399032"/>
            <a:ext cx="11155680" cy="6400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55680" cy="6400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17231C"/>
                </a:solidFill>
                <a:latin typeface="微軟正黑體"/>
                <a:ea typeface="微軟正黑體"/>
              </a:rPr>
              <a:t>點數機制核心：用捷運點承接「健康、共享、租賃導客」任務，控制成本與資料邊界，實現可預算化管理。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3931920" cy="4114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3931920" cy="411480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FFD34D"/>
                </a:solidFill>
                <a:latin typeface="微軟正黑體"/>
                <a:ea typeface="微軟正黑體"/>
              </a:rPr>
              <a:t>點數運作五步驟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C8F3DF"/>
                </a:solidFill>
                <a:latin typeface="微軟正黑體"/>
                <a:ea typeface="微軟正黑體"/>
              </a:rPr>
              <a:t>1. 觸發 (Trigger)：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微軟正黑體"/>
                <a:ea typeface="微軟正黑體"/>
              </a:rPr>
              <a:t>出站、靠近共享傘或選擇健康挑戰。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C8F3DF"/>
                </a:solidFill>
                <a:latin typeface="微軟正黑體"/>
                <a:ea typeface="微軟正黑體"/>
              </a:rPr>
              <a:t>2. 判斷 (Judge)：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微軟正黑體"/>
                <a:ea typeface="微軟正黑體"/>
              </a:rPr>
              <a:t>App 依站點、時間、天氣、偏好匹配推薦。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C8F3DF"/>
                </a:solidFill>
                <a:latin typeface="微軟正黑體"/>
                <a:ea typeface="微軟正黑體"/>
              </a:rPr>
              <a:t>3. 行動 (Action)：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軟正黑體"/>
                <a:ea typeface="微軟正黑體"/>
              </a:rPr>
              <a:t>步行到場館、騎 YouBike、借傘補電。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240280"/>
            <a:ext cx="6949440" cy="41148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2148840"/>
            <a:ext cx="6949440" cy="41148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33172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0B7A75"/>
                </a:solidFill>
                <a:latin typeface="微軟正黑體"/>
                <a:ea typeface="微軟正黑體"/>
              </a:rPr>
              <a:t>四大合作任務類型與控制邊界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· 健康減碳：搭捷運出站 + 步行到 U-Sport 運動場館或 U-Walk 萬步。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E776F"/>
                </a:solidFill>
                <a:latin typeface="微軟正黑體"/>
                <a:ea typeface="微軟正黑體"/>
              </a:rPr>
              <a:t>  [回饋] 捷運點加成/場館券 [成本控制] 每月名額上限控管 [資料] opt-in 個人授權。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· 共享服務：租借/歸還共享傘 (rainGo)、旅電/ChargeSPOT、騎 YouBike 接駁。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E776F"/>
                </a:solidFill>
                <a:latin typeface="微軟正黑體"/>
                <a:ea typeface="微軟正黑體"/>
              </a:rPr>
              <a:t>  [回饋] 共享任務章/借用折抵券/抽獎券 [成本控制] 由合作廠商分攤，不進行點對點補貼。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· 站內補給：亞尼克 YTM 蛋糕機、全家、黑潮咖啡站內櫃位。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6E776F"/>
                </a:solidFill>
                <a:latin typeface="微軟正黑體"/>
                <a:ea typeface="微軟正黑體"/>
              </a:rPr>
              <a:t>  [回饋] 捷運點折抵/特約優惠券 [成本控制] 由商家購買曝光導流包，提供兌換券。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· 空間租賃：小樹屋電話亭、智慧生活站取貨、快閃櫃、快剪。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E776F"/>
                </a:solidFill>
                <a:latin typeface="微軟正黑體"/>
                <a:ea typeface="微軟正黑體"/>
              </a:rPr>
              <a:t>  [回饋] 會員時租券/折扣 [成本控制] 包裹為租賃招商行銷方案，收取導客分成費。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商業導流：台北捷運 B2B 營運合作夥伴主控台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146304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ne-b2b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536192"/>
            <a:ext cx="2006056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607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7231C"/>
                </a:solidFill>
                <a:latin typeface="微軟正黑體"/>
                <a:ea typeface="微軟正黑體"/>
              </a:rPr>
              <a:t>B2B 營運端：LIVE 乘客事件流 ✕ 營運與招商指標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46304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94760" y="1371600"/>
            <a:ext cx="2880360" cy="48920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hone-today-set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536192"/>
            <a:ext cx="2006056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4760" y="57607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7231C"/>
                </a:solidFill>
                <a:latin typeface="微軟正黑體"/>
                <a:ea typeface="微軟正黑體"/>
              </a:rPr>
              <a:t>乘客端：簡潔、隱私、專注減碳與遊戲化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463040"/>
            <a:ext cx="4617720" cy="48920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0" y="1371600"/>
            <a:ext cx="4617720" cy="4892040"/>
          </a:xfrm>
          <a:prstGeom prst="roundRect">
            <a:avLst>
              <a:gd name="adj" fmla="val 12000"/>
            </a:avLst>
          </a:prstGeom>
          <a:solidFill>
            <a:srgbClr val="0B7A75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6002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FFD34D"/>
                </a:solidFill>
                <a:latin typeface="微軟正黑體"/>
                <a:ea typeface="微軟正黑體"/>
              </a:rPr>
              <a:t>可衡量的商模與招商加值方案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軟正黑體"/>
                <a:ea typeface="微軟正黑體"/>
              </a:rPr>
              <a:t>北捷可直接向合作夥伴銷售的四種加值方案：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8F3DF"/>
                </a:solidFill>
                <a:latin typeface="微軟正黑體"/>
                <a:ea typeface="微軟正黑體"/>
              </a:rPr>
              <a:t>1. 既存商家即時推播包 (亞尼克 YTM、旅電、共享傘)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8F3DF"/>
                </a:solidFill>
                <a:latin typeface="微軟正黑體"/>
                <a:ea typeface="微軟正黑體"/>
              </a:rPr>
              <a:t>2. 既存空間租客導客包 (小樹屋、快閃櫃、快剪)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8F3DF"/>
                </a:solidFill>
                <a:latin typeface="微軟正黑體"/>
                <a:ea typeface="微軟正黑體"/>
              </a:rPr>
              <a:t>3. 市政健康低碳共創包 (U-Sport 體育局合作)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0">
                <a:solidFill>
                  <a:srgbClr val="C8F3DF"/>
                </a:solidFill>
                <a:latin typeface="微軟正黑體"/>
                <a:ea typeface="微軟正黑體"/>
              </a:rPr>
              <a:t>4. 悠遊付生活圈加碼包 (第二階段合作擴充)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軟正黑體"/>
                <a:ea typeface="微軟正黑體"/>
              </a:rPr>
              <a:t>📊 共同森林看板：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主控台導入「板南線共同森林」看板，由沿線商家與租客共同捐贈養分，將導客成效具體化為企業 ESG 成效揭露！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技術硬底子：全場唯一 Numbers 可稽核數據信託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6949440" cy="310896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949440" cy="310896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6309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軟正黑體"/>
                <a:ea typeface="微軟正黑體"/>
              </a:rPr>
              <a:t>發出的每一克減碳、每一點發放，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100" b="1">
                <a:solidFill>
                  <a:srgbClr val="FFD34D"/>
                </a:solidFill>
                <a:latin typeface="微軟正黑體"/>
                <a:ea typeface="微軟正黑體"/>
              </a:rPr>
              <a:t>都經得起外部嚴格審計信託。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軟正黑體"/>
                <a:ea typeface="微軟正黑體"/>
              </a:rPr>
              <a:t>· 類比雲端發票載具：個人減碳與核銷紀錄，自動封存為去識別化可攜資產，換手機不丟失，第三方可隨時驗證。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C8F3DF"/>
                </a:solidFill>
                <a:latin typeface="微軟正黑體"/>
                <a:ea typeface="微軟正黑體"/>
              </a:rPr>
              <a:t>· 資料指紋 (Provenance)：核銷與減碳憑證自動計算 SHA-256 數據指紋寫入分散式 Ledger，保證數據不可篡改、不重複發放、不灌水。直接對接企業綠色金融或 ESG 審計合規首選！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4782312"/>
            <a:ext cx="6949440" cy="7772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6949440" cy="7772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17231C"/>
                </a:solidFill>
                <a:latin typeface="Consolas"/>
                <a:ea typeface="Consolas"/>
              </a:rPr>
              <a:t>Human Truth. Machine Proof. — Numbers Protocol 官方技術支持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19" y="1463040"/>
            <a:ext cx="2743200" cy="4663440"/>
          </a:xfrm>
          <a:prstGeom prst="roundRect">
            <a:avLst>
              <a:gd name="adj" fmla="val 7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1371600"/>
            <a:ext cx="2743200" cy="4663440"/>
          </a:xfrm>
          <a:prstGeom prst="roundRect">
            <a:avLst>
              <a:gd name="adj" fmla="val 7000"/>
            </a:avLst>
          </a:prstGeom>
          <a:solidFill>
            <a:srgbClr val="FFFDF2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ne-voucher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536192"/>
            <a:ext cx="1917878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6679" y="5623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7231C"/>
                </a:solidFill>
                <a:latin typeface="微軟正黑體"/>
                <a:ea typeface="微軟正黑體"/>
              </a:rPr>
              <a:t>核銷券內嵌「資料指紋已封存」憑證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87568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623560"/>
            <a:ext cx="6949440" cy="731520"/>
          </a:xfrm>
          <a:prstGeom prst="roundRect">
            <a:avLst>
              <a:gd name="adj" fmla="val 12000"/>
            </a:avLst>
          </a:prstGeom>
          <a:solidFill>
            <a:srgbClr val="C8F3DF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17231C"/>
                </a:solidFill>
                <a:latin typeface="微軟正黑體"/>
                <a:ea typeface="微軟正黑體"/>
              </a:rPr>
              <a:t>安全與隱私底線：Opt-in 授權、去識別化統計、不儲存個人行蹤、隨時可一鍵關閉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可行性與首年財務試算（非空中樓閣）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776F"/>
                </a:solidFill>
                <a:latin typeface="微軟正黑體"/>
                <a:ea typeface="微軟正黑體"/>
              </a:rPr>
              <a:t>首年合作金流收入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B7A75"/>
                </a:solidFill>
                <a:latin typeface="Arial Black"/>
                <a:ea typeface="Arial Black"/>
              </a:rPr>
              <a:t>NT$ 2,270 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1" y="150876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5112" y="141732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776F"/>
                </a:solidFill>
                <a:latin typeface="微軟正黑體"/>
                <a:ea typeface="微軟正黑體"/>
              </a:rPr>
              <a:t>點數與維運支出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F5A524"/>
                </a:solidFill>
                <a:latin typeface="Arial Black"/>
                <a:ea typeface="Arial Black"/>
              </a:rPr>
              <a:t>NT$ 1,525 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50876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47304" y="1417320"/>
            <a:ext cx="3520440" cy="155448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6E776F"/>
                </a:solidFill>
                <a:latin typeface="微軟正黑體"/>
                <a:ea typeface="微軟正黑體"/>
              </a:rPr>
              <a:t>可支應營運餘額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0116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38B86F"/>
                </a:solidFill>
                <a:latin typeface="Arial Black"/>
                <a:ea typeface="Arial Black"/>
              </a:rPr>
              <a:t>NT$ 745 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40"/>
            <a:ext cx="722376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200400"/>
            <a:ext cx="7223760" cy="30175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6583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1">
                <a:solidFill>
                  <a:srgbClr val="FFD34D"/>
                </a:solidFill>
                <a:latin typeface="微軟正黑體"/>
                <a:ea typeface="微軟正黑體"/>
              </a:rPr>
              <a:t>IFRS 15 點數會計與 Breakage 管理（直球對決財務評審）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· 發點遞延處理：發放時列合約負債（遞延收入），實際核銷或逾期時認列收入。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· Breakage 精精算：引入 OPENPOINT 歷史未兌換率（Breakage）估算，不虛增負債壓力。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  <a:ea typeface="微軟正黑體"/>
              </a:rPr>
              <a:t>· 成本共同分攤：點數池由站內特約商家、既存租賃商共同出資，北捷年補貼控制在 600 萬內！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C8F3DF"/>
                </a:solidFill>
                <a:latin typeface="微軟正黑體"/>
                <a:ea typeface="微軟正黑體"/>
              </a:rPr>
              <a:t>· 研究底稿：完整分析 LINE POINTS、星巴克與 Marriott 之會計實務。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291840"/>
            <a:ext cx="3657600" cy="30175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3200400"/>
            <a:ext cx="3657600" cy="301752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4290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B7A75"/>
                </a:solidFill>
                <a:latin typeface="微軟正黑體"/>
                <a:ea typeface="微軟正黑體"/>
              </a:rPr>
              <a:t>金流與成本細目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【收入】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· 20 商家推播合作包：1,200 萬 (5萬/月)
· 任務回饋池商家流：270 萬
· ESG/品牌共創：500 萬 / 租賃加值：300 萬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>
                <a:solidFill>
                  <a:srgbClr val="17231C"/>
                </a:solidFill>
                <a:latin typeface="微軟正黑體"/>
                <a:ea typeface="微軟正黑體"/>
              </a:rPr>
              <a:t>【支出】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17231C"/>
                </a:solidFill>
                <a:latin typeface="微軟正黑體"/>
                <a:ea typeface="微軟正黑體"/>
              </a:rPr>
              <a:t>· 回饋履約：225 萬 / 北捷補貼：600 萬
· 資料治理：200 萬 / 維運客服：500 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三階段導入藍圖與風險管理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C8F3D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決賽階段 (現有成果)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40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可操作高高擬真原型與 B2B 主控台，100% 離線可用，展示完整商業與健康機制。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945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1" y="1508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1" y="1645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16002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FFD34D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試辦階段 (半年導入)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240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選定 2–3 個示範生活圈站點，對接 U-Sport / Walk 政策，串聯站內既存廠商出站導客。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1945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7231C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508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41732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6459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16002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7231C"/>
                </a:solidFill>
                <a:latin typeface="微軟正黑體"/>
                <a:ea typeface="微軟正黑體"/>
              </a:rPr>
              <a:t>擴大階段 (一年推廣)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240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活化常客優惠轉點機制，對接悠遊付百萬商家網絡，引進綠色企業 ESG 數據信託採購。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" y="4050791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977639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38B86F"/>
                </a:solidFill>
                <a:latin typeface="微軟正黑體"/>
                <a:ea typeface="微軟正黑體"/>
              </a:rPr>
              <a:t>✓ 需主動管理的風險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跨局處與法人合作：U-Sport、YouBike 與悠遊付需市府行政協調。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隱私防禦：健康與步數資料採最小化，經 opt-in 授權，且隨時可關閉。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廣告審查：租賃空間與推播素材由北捷進行合規審查，不假設租戶可自行販售第三方廣告。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4050791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977639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FF6A3D"/>
                </a:solidFill>
                <a:latin typeface="微軟正黑體"/>
                <a:ea typeface="微軟正黑體"/>
              </a:rPr>
              <a:t>△ 北捷審閱重點回應 (誠實標註)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零新建成本：本案完全依託北捷既存的 Go App、Go!Map 與既存租客。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減碳係數 104 / 75 / 29 g／人km：採用北捷分享數值，導入時對接標準。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17231C"/>
                </a:solidFill>
                <a:latin typeface="微軟正黑體"/>
                <a:ea typeface="微軟正黑體"/>
              </a:rPr>
              <a:t>· 低門檻、低風險：以遊戲化破除 App 冷感，市府健康政策同發，實現財務自给。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48056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FD34D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17231C"/>
                </a:solidFill>
                <a:latin typeface="Arial Black"/>
                <a:ea typeface="Arial Black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17231C"/>
                </a:solidFill>
                <a:latin typeface="微軟正黑體"/>
                <a:ea typeface="微軟正黑體"/>
              </a:rPr>
              <a:t>團隊：私部門技術力 ✕ 點數模型 ✕ 公共政策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嚴世紀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77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B7A75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軟正黑體"/>
                <a:ea typeface="微軟正黑體"/>
              </a:rPr>
              <a:t>Numbers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專案總指揮、分散式系統架構、可信數據層驗證與信託底座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1" y="155448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46304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鍾天傑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1" y="2423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9431" y="2377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7231C"/>
                </a:solidFill>
                <a:latin typeface="微軟正黑體"/>
                <a:ea typeface="微軟正黑體"/>
              </a:rPr>
              <a:t>LINE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點數經濟模型設計、促銷乘數架構、高留存遊戲化 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55448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463040"/>
            <a:ext cx="3520440" cy="2834640"/>
          </a:xfrm>
          <a:prstGeom prst="roundRect">
            <a:avLst>
              <a:gd name="adj" fmla="val 12000"/>
            </a:avLst>
          </a:prstGeom>
          <a:solidFill>
            <a:srgbClr val="FFFDF2"/>
          </a:solidFill>
          <a:ln w="3175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737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17231C"/>
                </a:solidFill>
                <a:latin typeface="微軟正黑體"/>
                <a:ea typeface="微軟正黑體"/>
              </a:rPr>
              <a:t>嚴世裕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7344" y="24231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21624" y="2377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38B86F"/>
          </a:solidFill>
          <a:ln w="254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軟正黑體"/>
                <a:ea typeface="微軟正黑體"/>
              </a:rPr>
              <a:t>台北市政府地政局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3063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>
                <a:solidFill>
                  <a:srgbClr val="17231C"/>
                </a:solidFill>
                <a:latin typeface="微軟正黑體"/>
                <a:ea typeface="微軟正黑體"/>
              </a:rPr>
              <a:t>ESG 綠色政策對接、市府開放資料整合、行政合規審查與防禦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54879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17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663440"/>
            <a:ext cx="11155680" cy="1417320"/>
          </a:xfrm>
          <a:prstGeom prst="roundRect">
            <a:avLst>
              <a:gd name="adj" fmla="val 12000"/>
            </a:avLst>
          </a:prstGeom>
          <a:solidFill>
            <a:srgbClr val="083C37"/>
          </a:solidFill>
          <a:ln w="38100">
            <a:solidFill>
              <a:srgbClr val="172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64608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D34D"/>
                </a:solidFill>
                <a:latin typeface="微軟正黑體"/>
                <a:ea typeface="微軟正黑體"/>
              </a:rPr>
              <a:t>私部門技術力 × 點數經濟實戰 × 公部門政策力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C8F3DF"/>
                </a:solidFill>
                <a:latin typeface="微軟正黑體"/>
                <a:ea typeface="微軟正黑體"/>
              </a:rPr>
              <a:t>技術支持：Omni Edge（AI 智能體平台）· Numbers Protocol（可信數據基礎建設，Human Truth. Machine Proof.）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E776F"/>
                </a:solidFill>
                <a:latin typeface="微軟正黑體"/>
                <a:ea typeface="微軟正黑體"/>
              </a:rPr>
              <a:t>從碳客變捷客 · 2026 捷運盃黑客松決賽簡報 (提案審閱完整版) · 想領獎金的捷客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E776F"/>
                </a:solidFill>
                <a:latin typeface="Arial"/>
                <a:ea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